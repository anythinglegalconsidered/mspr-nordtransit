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17" d="100"/>
          <a:sy n="217" d="100"/>
        </p:scale>
        <p:origin x="156" y="-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0F1B2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F1B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679-4DFB-8D67-6DCE4507CC6D}"/>
              </c:ext>
            </c:extLst>
          </c:dPt>
          <c:dPt>
            <c:idx val="1"/>
            <c:invertIfNegative val="0"/>
            <c:bubble3D val="0"/>
            <c:spPr>
              <a:solidFill>
                <a:srgbClr val="1A27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679-4DFB-8D67-6DCE4507CC6D}"/>
              </c:ext>
            </c:extLst>
          </c:dPt>
          <c:dPt>
            <c:idx val="2"/>
            <c:invertIfNegative val="0"/>
            <c:bubble3D val="0"/>
            <c:spPr>
              <a:solidFill>
                <a:srgbClr val="0891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679-4DFB-8D67-6DCE4507CC6D}"/>
              </c:ext>
            </c:extLst>
          </c:dPt>
          <c:dPt>
            <c:idx val="3"/>
            <c:invertIfNegative val="0"/>
            <c:bubble3D val="0"/>
            <c:spPr>
              <a:solidFill>
                <a:srgbClr val="0E74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679-4DFB-8D67-6DCE4507CC6D}"/>
              </c:ext>
            </c:extLst>
          </c:dPt>
          <c:dPt>
            <c:idx val="4"/>
            <c:invertIfNegative val="0"/>
            <c:bubble3D val="0"/>
            <c:spPr>
              <a:solidFill>
                <a:srgbClr val="06B6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679-4DFB-8D67-6DCE4507CC6D}"/>
              </c:ext>
            </c:extLst>
          </c:dPt>
          <c:dPt>
            <c:idx val="5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679-4DFB-8D67-6DCE4507CC6D}"/>
              </c:ext>
            </c:extLst>
          </c:dPt>
          <c:dPt>
            <c:idx val="6"/>
            <c:invertIfNegative val="0"/>
            <c:bubble3D val="0"/>
            <c:spPr>
              <a:solidFill>
                <a:srgbClr val="F9731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679-4DFB-8D67-6DCE4507CC6D}"/>
              </c:ext>
            </c:extLst>
          </c:dPt>
          <c:dPt>
            <c:idx val="7"/>
            <c:invertIfNegative val="0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679-4DFB-8D67-6DCE4507CC6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Virtualisation</c:v>
                </c:pt>
                <c:pt idx="1">
                  <c:v>Stockage SAN</c:v>
                </c:pt>
                <c:pt idx="2">
                  <c:v>Sécurité</c:v>
                </c:pt>
                <c:pt idx="3">
                  <c:v>Internet</c:v>
                </c:pt>
                <c:pt idx="4">
                  <c:v>Réseau</c:v>
                </c:pt>
                <c:pt idx="5">
                  <c:v>Azure PRA</c:v>
                </c:pt>
                <c:pt idx="6">
                  <c:v>Main d'œuvre</c:v>
                </c:pt>
                <c:pt idx="7">
                  <c:v>Supervision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30000</c:v>
                </c:pt>
                <c:pt idx="1">
                  <c:v>20000</c:v>
                </c:pt>
                <c:pt idx="2">
                  <c:v>17520</c:v>
                </c:pt>
                <c:pt idx="3">
                  <c:v>12840</c:v>
                </c:pt>
                <c:pt idx="4">
                  <c:v>12000</c:v>
                </c:pt>
                <c:pt idx="5">
                  <c:v>11232</c:v>
                </c:pt>
                <c:pt idx="6">
                  <c:v>8300</c:v>
                </c:pt>
                <c:pt idx="7">
                  <c:v>7500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E679-4DFB-8D67-6DCE4507C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8425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6576" cy="5088636"/>
          </a:xfrm>
          <a:prstGeom prst="rect">
            <a:avLst/>
          </a:prstGeom>
          <a:solidFill>
            <a:srgbClr val="0891B2">
              <a:alpha val="7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MSPR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NordTransit Logistics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Modernisation de l'infrastructure SI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337560"/>
            <a:ext cx="228600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31520" y="3611879"/>
            <a:ext cx="7680960" cy="9293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B3 ASRBD Groupe 2 : </a:t>
            </a:r>
            <a:endParaRPr lang="fr-FR" sz="1200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fr-FR" sz="12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PUICHAUD Ianis</a:t>
            </a:r>
            <a:endParaRPr lang="fr-FR" sz="1200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fr-FR" sz="12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ABOUYAALA </a:t>
            </a:r>
            <a:r>
              <a:rPr lang="fr-FR" sz="1200" b="1" dirty="0" err="1">
                <a:solidFill>
                  <a:schemeClr val="accent3">
                    <a:lumMod val="20000"/>
                    <a:lumOff val="80000"/>
                  </a:schemeClr>
                </a:solidFill>
              </a:rPr>
              <a:t>Zaid</a:t>
            </a:r>
            <a:endParaRPr lang="fr-FR" sz="1200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fr-FR" sz="12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LANTSIGBLE </a:t>
            </a:r>
            <a:r>
              <a:rPr lang="fr-FR" sz="1200" b="1" dirty="0" err="1">
                <a:solidFill>
                  <a:schemeClr val="accent3">
                    <a:lumMod val="20000"/>
                    <a:lumOff val="80000"/>
                  </a:schemeClr>
                </a:solidFill>
              </a:rPr>
              <a:t>Ojvind</a:t>
            </a:r>
            <a:endParaRPr lang="fr-FR" sz="1200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fr-FR" sz="12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LENOGUE Ewan</a:t>
            </a:r>
            <a:endParaRPr lang="fr-FR" sz="1200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fr-FR" sz="12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WANDA NKONG Blaise</a:t>
            </a:r>
            <a:endParaRPr lang="en-US" sz="1200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Sommaire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1247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client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3441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NordTransit Logistics en bref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67335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16733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5506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Problématique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1874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douleur et risques identifiés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203704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40080" y="22037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85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cible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240487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technique proposée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734056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0080" y="27340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715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réseau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2935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FortiGate, VPN IKEv2, VLAN, QoS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264408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4008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2461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Haute disponibilité &amp; PRA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88720" y="34655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HA, Azure Site Recovery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40080" y="3794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7764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POC &amp; résultats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188720" y="39959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Proxmox, 4 tests validés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32511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40080" y="4325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3068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188720" y="45262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EUR sur 150k max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0" y="914400"/>
            <a:ext cx="2286000" cy="3657600"/>
          </a:xfrm>
          <a:prstGeom prst="rect">
            <a:avLst/>
          </a:prstGeom>
          <a:solidFill>
            <a:srgbClr val="1A2744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1031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client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NordTransit Logistics — PME logistique, Hauts-de-France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544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Lille, Lens, Valenciennes, Arras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974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26974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55448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974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240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26974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7889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300 en haute saison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7548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4"/>
          <p:cNvSpPr/>
          <p:nvPr/>
        </p:nvSpPr>
        <p:spPr>
          <a:xfrm>
            <a:off x="47548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55448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20+</a:t>
            </a:r>
            <a:endParaRPr lang="en-US" sz="3600" dirty="0"/>
          </a:p>
        </p:txBody>
      </p:sp>
      <p:sp>
        <p:nvSpPr>
          <p:cNvPr id="21" name="Text 16"/>
          <p:cNvSpPr/>
          <p:nvPr/>
        </p:nvSpPr>
        <p:spPr>
          <a:xfrm>
            <a:off x="47548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8463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serveur unique (SPOF)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8122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19"/>
          <p:cNvSpPr/>
          <p:nvPr/>
        </p:nvSpPr>
        <p:spPr>
          <a:xfrm>
            <a:off x="68122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1554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122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27" name="Text 21"/>
          <p:cNvSpPr/>
          <p:nvPr/>
        </p:nvSpPr>
        <p:spPr>
          <a:xfrm>
            <a:off x="6812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9037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resp. + 3 techniciens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40080" y="3703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critique : WMS (gestion d'entrepôt) — indisponibilité = arrêt des 4 sites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5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Horaires critiques WMS : 5h30 — 18h30  |  Active Directory : 24/7  |  VoIP : 7h00 — 18h30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Problématique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252728"/>
            <a:ext cx="685800" cy="3657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7589520" y="12527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463040" y="11247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SPOF critique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unique Dell R630 — panne = arrêt total de tous les services (AD, WMS, VoIP, supervision)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19659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148840"/>
            <a:ext cx="411480" cy="411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589520" y="2167128"/>
            <a:ext cx="685800" cy="3657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7589520" y="21671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463040" y="20391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 de PRA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463040" y="23317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Sinistre au siège = perte définitive des données, aucun plan de reprise d'activité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0080" y="28803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5"/>
          <p:cNvSpPr/>
          <p:nvPr/>
        </p:nvSpPr>
        <p:spPr>
          <a:xfrm>
            <a:off x="640080" y="2880360"/>
            <a:ext cx="54864" cy="7772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063240"/>
            <a:ext cx="411480" cy="411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589520" y="3081528"/>
            <a:ext cx="685800" cy="3657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7589520" y="30815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1463040" y="2953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obsolète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1463040" y="3246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80D en fin de vie, DrayTek basiques, VPN IKEv1, MFA partiel (IT uniquement)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40080" y="37947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1"/>
          <p:cNvSpPr/>
          <p:nvPr/>
        </p:nvSpPr>
        <p:spPr>
          <a:xfrm>
            <a:off x="640080" y="379476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411480" cy="41148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589520" y="3995928"/>
            <a:ext cx="68580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3"/>
          <p:cNvSpPr/>
          <p:nvPr/>
        </p:nvSpPr>
        <p:spPr>
          <a:xfrm>
            <a:off x="7589520" y="39959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1463040" y="38679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VoIP dégradée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146304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QoS configurée — la voix se coupe quand le réseau est chargé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de la solution proposée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749040" cy="310896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LILLE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" y="160020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7335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600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100F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360" y="214884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2219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2x R650xs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94360" y="269748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7063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51560" y="2697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PowerVault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94360" y="3246120"/>
            <a:ext cx="329184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1927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1560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(DC01 + DC02)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212080" y="1143000"/>
            <a:ext cx="3566160" cy="137160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4"/>
          <p:cNvSpPr/>
          <p:nvPr/>
        </p:nvSpPr>
        <p:spPr>
          <a:xfrm>
            <a:off x="521208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 x4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440680" y="1600200"/>
            <a:ext cx="3108960" cy="4114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67335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9788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60F / 40F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5440680" y="2103120"/>
            <a:ext cx="3108960" cy="274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18"/>
          <p:cNvSpPr/>
          <p:nvPr/>
        </p:nvSpPr>
        <p:spPr>
          <a:xfrm>
            <a:off x="5440680" y="2103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C9200-24P  |  Postes + RF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4114800" y="1801368"/>
            <a:ext cx="109728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0"/>
          <p:cNvSpPr/>
          <p:nvPr/>
        </p:nvSpPr>
        <p:spPr>
          <a:xfrm>
            <a:off x="5074920" y="1709928"/>
            <a:ext cx="137160" cy="9144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1"/>
          <p:cNvSpPr/>
          <p:nvPr/>
        </p:nvSpPr>
        <p:spPr>
          <a:xfrm>
            <a:off x="5074920" y="1892808"/>
            <a:ext cx="13716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2"/>
          <p:cNvSpPr/>
          <p:nvPr/>
        </p:nvSpPr>
        <p:spPr>
          <a:xfrm>
            <a:off x="4160520" y="1920240"/>
            <a:ext cx="1005840" cy="457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3"/>
          <p:cNvSpPr/>
          <p:nvPr/>
        </p:nvSpPr>
        <p:spPr>
          <a:xfrm>
            <a:off x="4160520" y="19202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IKEv2</a:t>
            </a:r>
            <a:endParaRPr lang="en-US" sz="9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5212080" y="2743200"/>
            <a:ext cx="3566160" cy="150876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5"/>
          <p:cNvSpPr/>
          <p:nvPr/>
        </p:nvSpPr>
        <p:spPr>
          <a:xfrm>
            <a:off x="5212080" y="2743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— PRA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40680" y="315468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191256"/>
            <a:ext cx="219456" cy="219456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85216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répliqué (RPO = 0)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5440680" y="352044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557016"/>
            <a:ext cx="219456" cy="21945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8521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Recovery (20 VMs)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5440680" y="3886200"/>
            <a:ext cx="3108960" cy="292608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922776"/>
            <a:ext cx="219456" cy="219456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5852160" y="38862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 + Witness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4663440" y="3291840"/>
            <a:ext cx="5486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33"/>
          <p:cNvSpPr/>
          <p:nvPr/>
        </p:nvSpPr>
        <p:spPr>
          <a:xfrm>
            <a:off x="4114800" y="3063240"/>
            <a:ext cx="594360" cy="457200"/>
          </a:xfrm>
          <a:prstGeom prst="rect">
            <a:avLst/>
          </a:prstGeom>
          <a:solidFill>
            <a:srgbClr val="F59E0B">
              <a:alpha val="3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34"/>
          <p:cNvSpPr/>
          <p:nvPr/>
        </p:nvSpPr>
        <p:spPr>
          <a:xfrm>
            <a:off x="4114800" y="30632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800" dirty="0"/>
          </a:p>
        </p:txBody>
      </p:sp>
      <p:sp>
        <p:nvSpPr>
          <p:cNvPr id="45" name="Shape 35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solidFill>
            <a:srgbClr val="0891B2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36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: 137k € / 150k max  —  FortiGate homogènes  —  Cluster HA  —  PRA Azure  —  QoS VoIP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réseau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Pare-feu FortiGate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FortiGate 100F (Hub VPN, UTM)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 : 3x FortiGate 60F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 : FortiGate 40F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+ politique uniforme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780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&amp; segmentation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6916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IKEv2 + AES-256-GCM (5 tunnels)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 (Dead Peer Detection)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VLANs : MGMT, Serveurs, Data, VoIP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inter-VLAN strict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QoS par VLAN — Priorisation du trafic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7863840" cy="12313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Bande passante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VOIP (40)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 (46)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minimum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SERVEURS (20)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Moyenne-Haute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AF31 (26)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(30)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(0)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effort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MGMT (10)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 (16)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Haute disponibilité &amp; PRA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on-premise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Dell R650xs (256 Go RAM)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iSCSI PowerVault ME5012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 via Azure Cloud Witness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Basculement automatique &lt; 5 min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~15k € vs 3 nœuds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840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38404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780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 Azure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69164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répliqué dans Azure (RPO = 0)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Site Recovery (20 VMs)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 pour les backups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 site-à-site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3 ans (-40% de coût)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RTO / RPO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23360"/>
          <a:ext cx="7863840" cy="98755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Mécanisme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(temps réel)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répliqué Azure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Téléphonie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VM sur nœud sain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POC — Proof of Concept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sur Proxmox VE pour valider chaque brique de l'architecture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5720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572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Siège — 172.16.132.0/24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FW-SIEGE (pfSense)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DC01 (Win Server)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(Win Server)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0" y="182880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743200" y="18288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(Ubuntu + MySQL)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0" y="2331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IPBX (FreePBX)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→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5661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→ pfSense  |  Windows Server → identique  |  WMS → Ubuntu + MySQL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7947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: pas de failover cluster physique en lab (couvert par specs Dell)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37760" y="2286000"/>
            <a:ext cx="5943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4956048" y="2377440"/>
            <a:ext cx="548640" cy="3200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956048" y="23774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69280" y="1325880"/>
            <a:ext cx="31089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5669280" y="1325880"/>
            <a:ext cx="310896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66928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Azure — 10.100.0.0/24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897880" y="1828800"/>
            <a:ext cx="2651760" cy="3657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89788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FW-AZURE (pfSense)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897880" y="2331720"/>
            <a:ext cx="2651760" cy="3657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897880" y="2331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DC-AZURE (Win Server)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0" y="3611880"/>
            <a:ext cx="3108960" cy="45720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566928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 9.1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Go RAM | 720 Go SSD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Résultats POC — 4 tests, 4 PASS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566160" y="11887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566160" y="1188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216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QoS VoIP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80160" y="1490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VoIP stable sous 500 Mbps de charge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" y="19202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91440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0.1ms  |  Jitter 0.04ms  |  0% perte  |  MOS 4.4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7680960" y="11887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7680960" y="1188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216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Failover AD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394960" y="1490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prend le relais si DC01 tombe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892040" y="19202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502920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&lt; 30s  |  DNS + Auth OK  |  Réplication 0 erreurs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40080" y="28803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9"/>
          <p:cNvSpPr/>
          <p:nvPr/>
        </p:nvSpPr>
        <p:spPr>
          <a:xfrm>
            <a:off x="640080" y="28803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0"/>
          <p:cNvSpPr/>
          <p:nvPr/>
        </p:nvSpPr>
        <p:spPr>
          <a:xfrm>
            <a:off x="3566160" y="30175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1"/>
          <p:cNvSpPr/>
          <p:nvPr/>
        </p:nvSpPr>
        <p:spPr>
          <a:xfrm>
            <a:off x="35661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063240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Failover WMS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128016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survit à un arrêt brutal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77240" y="37490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5"/>
          <p:cNvSpPr/>
          <p:nvPr/>
        </p:nvSpPr>
        <p:spPr>
          <a:xfrm>
            <a:off x="9144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Reboot ~20s  |  MySQL actif  |  5/5 records intacts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754880" y="28803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27"/>
          <p:cNvSpPr/>
          <p:nvPr/>
        </p:nvSpPr>
        <p:spPr>
          <a:xfrm>
            <a:off x="4754880" y="28803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28"/>
          <p:cNvSpPr/>
          <p:nvPr/>
        </p:nvSpPr>
        <p:spPr>
          <a:xfrm>
            <a:off x="7680960" y="30175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29"/>
          <p:cNvSpPr/>
          <p:nvPr/>
        </p:nvSpPr>
        <p:spPr>
          <a:xfrm>
            <a:off x="76809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063240"/>
            <a:ext cx="365760" cy="36576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9496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Tunnel Azure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539496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siège ↔ Azure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4892040" y="37490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3"/>
          <p:cNvSpPr/>
          <p:nvPr/>
        </p:nvSpPr>
        <p:spPr>
          <a:xfrm>
            <a:off x="50292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 &lt; 1ms  |  DNS cross-site  |  Réplication AD OK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137 301 €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0" y="594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150 000 € max — marge de 12 699 €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00584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05840"/>
            <a:ext cx="29260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60720" y="1005840"/>
            <a:ext cx="29260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76072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TCO sur 3 ans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76072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175 680 €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943600" y="20116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: ~137k 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: ~19.3k €/an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60720" y="3017520"/>
            <a:ext cx="29260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5760720" y="3017520"/>
            <a:ext cx="29260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0" y="31546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Choix clés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897880" y="34290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: interface connue DSI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 R650xs : évolutif, ProSupport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Reserved : -40% de coût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nœuds vs 3 : -15k €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résumé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05156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Sécurisé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homogènes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IKEv2 AES-256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généralisé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0604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20040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6916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0604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Résilient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74320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 nœuds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Azure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&lt; 1h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75488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534924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6916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5488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Prouvé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89204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tests POC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 PASS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validées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90372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749808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169164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0372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Maîtrisé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04088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/ 150k €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12.7k €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3 ans : 176k €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200400" y="4251960"/>
            <a:ext cx="274320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19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— Questions 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860</Words>
  <Application>Microsoft Office PowerPoint</Application>
  <PresentationFormat>On-screen Show (16:9)</PresentationFormat>
  <Paragraphs>216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MSPR — NordTransit Logistics</dc:title>
  <dc:subject>PptxGenJS Presentation</dc:subject>
  <dc:creator>Ianis — Équipe NordTransit</dc:creator>
  <cp:lastModifiedBy>Ianis Puichaud</cp:lastModifiedBy>
  <cp:revision>2</cp:revision>
  <dcterms:created xsi:type="dcterms:W3CDTF">2026-02-15T17:45:22Z</dcterms:created>
  <dcterms:modified xsi:type="dcterms:W3CDTF">2026-02-15T21:08:41Z</dcterms:modified>
</cp:coreProperties>
</file>