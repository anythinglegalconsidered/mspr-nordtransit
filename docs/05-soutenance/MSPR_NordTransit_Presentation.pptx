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rts/chart1.xml" ContentType="application/vnd.openxmlformats-officedocument.drawingml.chart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handoutMasterIdLst>
    <p:handoutMasterId r:id="rId15"/>
  </p:handout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210" d="100"/>
          <a:sy n="210" d="100"/>
        </p:scale>
        <p:origin x="384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Budget</c:v>
                </c:pt>
              </c:strCache>
            </c:strRef>
          </c:tx>
          <c:spPr>
            <a:solidFill>
              <a:srgbClr val="0F1B2D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1CF2-41DD-B408-19671E8AB0D4}"/>
              </c:ext>
            </c:extLst>
          </c:dPt>
          <c:dPt>
            <c:idx val="1"/>
            <c:invertIfNegative val="0"/>
            <c:bubble3D val="0"/>
            <c:spPr>
              <a:solidFill>
                <a:srgbClr val="1A274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1CF2-41DD-B408-19671E8AB0D4}"/>
              </c:ext>
            </c:extLst>
          </c:dPt>
          <c:dPt>
            <c:idx val="2"/>
            <c:invertIfNegative val="0"/>
            <c:bubble3D val="0"/>
            <c:spPr>
              <a:solidFill>
                <a:srgbClr val="0891B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1CF2-41DD-B408-19671E8AB0D4}"/>
              </c:ext>
            </c:extLst>
          </c:dPt>
          <c:dPt>
            <c:idx val="3"/>
            <c:invertIfNegative val="0"/>
            <c:bubble3D val="0"/>
            <c:spPr>
              <a:solidFill>
                <a:srgbClr val="0E749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1CF2-41DD-B408-19671E8AB0D4}"/>
              </c:ext>
            </c:extLst>
          </c:dPt>
          <c:dPt>
            <c:idx val="4"/>
            <c:invertIfNegative val="0"/>
            <c:bubble3D val="0"/>
            <c:spPr>
              <a:solidFill>
                <a:srgbClr val="06B6D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1CF2-41DD-B408-19671E8AB0D4}"/>
              </c:ext>
            </c:extLst>
          </c:dPt>
          <c:dPt>
            <c:idx val="5"/>
            <c:invertIfNegative val="0"/>
            <c:bubble3D val="0"/>
            <c:spPr>
              <a:solidFill>
                <a:srgbClr val="F59E0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1CF2-41DD-B408-19671E8AB0D4}"/>
              </c:ext>
            </c:extLst>
          </c:dPt>
          <c:dPt>
            <c:idx val="6"/>
            <c:invertIfNegative val="0"/>
            <c:bubble3D val="0"/>
            <c:spPr>
              <a:solidFill>
                <a:srgbClr val="F9731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1CF2-41DD-B408-19671E8AB0D4}"/>
              </c:ext>
            </c:extLst>
          </c:dPt>
          <c:dPt>
            <c:idx val="7"/>
            <c:invertIfNegative val="0"/>
            <c:bubble3D val="0"/>
            <c:spPr>
              <a:solidFill>
                <a:srgbClr val="10B98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1CF2-41DD-B408-19671E8AB0D4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Sheet1!$A$2:$A$9</c:f>
              <c:strCache>
                <c:ptCount val="8"/>
                <c:pt idx="0">
                  <c:v>Virtualisation</c:v>
                </c:pt>
                <c:pt idx="1">
                  <c:v>Stockage SAN</c:v>
                </c:pt>
                <c:pt idx="2">
                  <c:v>Sécurité</c:v>
                </c:pt>
                <c:pt idx="3">
                  <c:v>Internet</c:v>
                </c:pt>
                <c:pt idx="4">
                  <c:v>Réseau</c:v>
                </c:pt>
                <c:pt idx="5">
                  <c:v>Azure PRA</c:v>
                </c:pt>
                <c:pt idx="6">
                  <c:v>Main d'œuvre</c:v>
                </c:pt>
                <c:pt idx="7">
                  <c:v>Supervision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30000</c:v>
                </c:pt>
                <c:pt idx="1">
                  <c:v>20000</c:v>
                </c:pt>
                <c:pt idx="2">
                  <c:v>17520</c:v>
                </c:pt>
                <c:pt idx="3">
                  <c:v>12840</c:v>
                </c:pt>
                <c:pt idx="4">
                  <c:v>12000</c:v>
                </c:pt>
                <c:pt idx="5">
                  <c:v>11232</c:v>
                </c:pt>
                <c:pt idx="6">
                  <c:v>8300</c:v>
                </c:pt>
                <c:pt idx="7">
                  <c:v>7500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0-1CF2-41DD-B408-19671E8AB0D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94A3B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7D6CC03B-15F5-0152-F2B6-818ED0C6A988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154332A-14E8-F8B5-CC0A-E7C1B377324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2913063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endParaRPr lang="fr-F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9C4C0E6-1A62-B0BD-8C26-C376CDEA8F4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E0FCD04-8815-B406-D702-EAD9EB4E6A5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2913063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B93C933-9933-4C31-BE6D-F5666E68E0F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0269413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9041510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47A6172-EF82-3779-3802-DDA232D0E7C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945FB95-144E-49FD-B7E5-5AC832B9F648}" type="slidenum">
              <a:rPr lang="fr-FR" smtClean="0"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B5B4E7C-A112-C4EC-AA6C-7BB2C68C9A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937783" y="4767263"/>
            <a:ext cx="20574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945FB95-144E-49FD-B7E5-5AC832B9F648}" type="slidenum">
              <a:rPr lang="fr-FR" smtClean="0"/>
              <a:t>‹N°›</a:t>
            </a:fld>
            <a:endParaRPr lang="fr-F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.png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0" y="54864"/>
            <a:ext cx="36576" cy="5088636"/>
          </a:xfrm>
          <a:prstGeom prst="rect">
            <a:avLst/>
          </a:prstGeom>
          <a:solidFill>
            <a:srgbClr val="0891B2">
              <a:alpha val="70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731520" y="597033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22D3E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MSPR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1191393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NordTransit Logistics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731520" y="2105793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Modernisation de l'infrastructure SI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731520" y="2837313"/>
            <a:ext cx="2286000" cy="0"/>
          </a:xfrm>
          <a:prstGeom prst="line">
            <a:avLst/>
          </a:prstGeom>
          <a:noFill/>
          <a:ln w="3175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/>
          <p:nvPr/>
        </p:nvSpPr>
        <p:spPr>
          <a:xfrm>
            <a:off x="731520" y="3057270"/>
            <a:ext cx="7680960" cy="10599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fr-FR" sz="1200" b="1" dirty="0">
                <a:solidFill>
                  <a:schemeClr val="bg1">
                    <a:lumMod val="75000"/>
                  </a:schemeClr>
                </a:solidFill>
              </a:rPr>
              <a:t>B3 ASRBD Groupe 2 :</a:t>
            </a:r>
            <a:endParaRPr lang="fr-FR" sz="1200" dirty="0">
              <a:solidFill>
                <a:schemeClr val="bg1">
                  <a:lumMod val="75000"/>
                </a:schemeClr>
              </a:solidFill>
            </a:endParaRPr>
          </a:p>
          <a:p>
            <a:r>
              <a:rPr lang="fr-FR" sz="1200" b="1" dirty="0">
                <a:solidFill>
                  <a:schemeClr val="bg1">
                    <a:lumMod val="75000"/>
                  </a:schemeClr>
                </a:solidFill>
              </a:rPr>
              <a:t>PUICHAUD Ianis</a:t>
            </a:r>
            <a:endParaRPr lang="fr-FR" sz="1200" dirty="0">
              <a:solidFill>
                <a:schemeClr val="bg1">
                  <a:lumMod val="75000"/>
                </a:schemeClr>
              </a:solidFill>
            </a:endParaRPr>
          </a:p>
          <a:p>
            <a:r>
              <a:rPr lang="fr-FR" sz="1200" b="1" dirty="0">
                <a:solidFill>
                  <a:schemeClr val="bg1">
                    <a:lumMod val="75000"/>
                  </a:schemeClr>
                </a:solidFill>
              </a:rPr>
              <a:t>ABOUYAALA </a:t>
            </a:r>
            <a:r>
              <a:rPr lang="fr-FR" sz="1200" b="1" dirty="0" err="1">
                <a:solidFill>
                  <a:schemeClr val="bg1">
                    <a:lumMod val="75000"/>
                  </a:schemeClr>
                </a:solidFill>
              </a:rPr>
              <a:t>Zaid</a:t>
            </a:r>
            <a:endParaRPr lang="fr-FR" sz="1200" dirty="0">
              <a:solidFill>
                <a:schemeClr val="bg1">
                  <a:lumMod val="75000"/>
                </a:schemeClr>
              </a:solidFill>
            </a:endParaRPr>
          </a:p>
          <a:p>
            <a:r>
              <a:rPr lang="fr-FR" sz="1200" b="1" dirty="0">
                <a:solidFill>
                  <a:schemeClr val="bg1">
                    <a:lumMod val="75000"/>
                  </a:schemeClr>
                </a:solidFill>
              </a:rPr>
              <a:t>LANTSIGBLE </a:t>
            </a:r>
            <a:r>
              <a:rPr lang="fr-FR" sz="1200" b="1" dirty="0" err="1">
                <a:solidFill>
                  <a:schemeClr val="bg1">
                    <a:lumMod val="75000"/>
                  </a:schemeClr>
                </a:solidFill>
              </a:rPr>
              <a:t>Ojvind</a:t>
            </a:r>
            <a:endParaRPr lang="fr-FR" sz="1200" dirty="0">
              <a:solidFill>
                <a:schemeClr val="bg1">
                  <a:lumMod val="75000"/>
                </a:schemeClr>
              </a:solidFill>
            </a:endParaRPr>
          </a:p>
          <a:p>
            <a:r>
              <a:rPr lang="fr-FR" sz="1200" b="1" dirty="0">
                <a:solidFill>
                  <a:schemeClr val="bg1">
                    <a:lumMod val="75000"/>
                  </a:schemeClr>
                </a:solidFill>
              </a:rPr>
              <a:t>LENOGUE Ewan</a:t>
            </a:r>
            <a:endParaRPr lang="fr-FR" sz="1200" dirty="0">
              <a:solidFill>
                <a:schemeClr val="bg1">
                  <a:lumMod val="75000"/>
                </a:schemeClr>
              </a:solidFill>
            </a:endParaRPr>
          </a:p>
          <a:p>
            <a:r>
              <a:rPr lang="fr-FR" sz="1200" b="1" dirty="0">
                <a:solidFill>
                  <a:schemeClr val="bg1">
                    <a:lumMod val="75000"/>
                  </a:schemeClr>
                </a:solidFill>
              </a:rPr>
              <a:t>WANDA NKONG Blaise</a:t>
            </a:r>
            <a:endParaRPr lang="en-US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9" name="Text 7"/>
          <p:cNvSpPr/>
          <p:nvPr/>
        </p:nvSpPr>
        <p:spPr>
          <a:xfrm>
            <a:off x="731520" y="4182527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Février 2026</a:t>
            </a:r>
            <a:endParaRPr lang="en-US" sz="1300" dirty="0"/>
          </a:p>
        </p:txBody>
      </p:sp>
      <p:sp>
        <p:nvSpPr>
          <p:cNvPr id="10" name="Shape 0">
            <a:extLst>
              <a:ext uri="{FF2B5EF4-FFF2-40B4-BE49-F238E27FC236}">
                <a16:creationId xmlns:a16="http://schemas.microsoft.com/office/drawing/2014/main" id="{6C498870-44BD-C17F-F7FC-10CCCEDDE0A3}"/>
              </a:ext>
            </a:extLst>
          </p:cNvPr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1" name="Shape 1">
            <a:extLst>
              <a:ext uri="{FF2B5EF4-FFF2-40B4-BE49-F238E27FC236}">
                <a16:creationId xmlns:a16="http://schemas.microsoft.com/office/drawing/2014/main" id="{D30BC3A2-0A5F-99AF-514B-9B513DAAA6DF}"/>
              </a:ext>
            </a:extLst>
          </p:cNvPr>
          <p:cNvSpPr/>
          <p:nvPr/>
        </p:nvSpPr>
        <p:spPr>
          <a:xfrm>
            <a:off x="9107424" y="54864"/>
            <a:ext cx="36576" cy="5088636"/>
          </a:xfrm>
          <a:prstGeom prst="rect">
            <a:avLst/>
          </a:prstGeom>
          <a:solidFill>
            <a:srgbClr val="0891B2">
              <a:alpha val="70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EF01E84D-3B85-EE0E-39BB-536A85C16AD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945FB95-144E-49FD-B7E5-5AC832B9F648}" type="slidenum">
              <a:rPr lang="fr-FR" smtClean="0"/>
              <a:t>1</a:t>
            </a:fld>
            <a:endParaRPr lang="fr-F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640080" y="32004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1B2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Sommaire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005840"/>
            <a:ext cx="347472" cy="347472"/>
          </a:xfrm>
          <a:prstGeom prst="ellipse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640080" y="1005840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143000" y="98755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B2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Contexte client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43000" y="118872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NordTransit Logistics en bref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40080" y="1463040"/>
            <a:ext cx="347472" cy="347472"/>
          </a:xfrm>
          <a:prstGeom prst="ellipse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" name="Text 7"/>
          <p:cNvSpPr/>
          <p:nvPr/>
        </p:nvSpPr>
        <p:spPr>
          <a:xfrm>
            <a:off x="640080" y="1463040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143000" y="144475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B2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Problématique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143000" y="164592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Points de douleur et risques identifiés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0080" y="1920240"/>
            <a:ext cx="347472" cy="347472"/>
          </a:xfrm>
          <a:prstGeom prst="ellipse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3" name="Text 11"/>
          <p:cNvSpPr/>
          <p:nvPr/>
        </p:nvSpPr>
        <p:spPr>
          <a:xfrm>
            <a:off x="640080" y="1920240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143000" y="190195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B2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Architecture cible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143000" y="210312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technique proposée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40080" y="2377440"/>
            <a:ext cx="347472" cy="347472"/>
          </a:xfrm>
          <a:prstGeom prst="ellipse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7" name="Text 15"/>
          <p:cNvSpPr/>
          <p:nvPr/>
        </p:nvSpPr>
        <p:spPr>
          <a:xfrm>
            <a:off x="640080" y="2377440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143000" y="235915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B2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Sécurité &amp; réseau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143000" y="256032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FortiGate, VPN IKEv2, VLAN, QoS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40080" y="2834640"/>
            <a:ext cx="347472" cy="347472"/>
          </a:xfrm>
          <a:prstGeom prst="ellipse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1" name="Text 19"/>
          <p:cNvSpPr/>
          <p:nvPr/>
        </p:nvSpPr>
        <p:spPr>
          <a:xfrm>
            <a:off x="640080" y="2834640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143000" y="281635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B2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Haute disponibilité &amp; PRA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143000" y="301752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 HA, Azure Site Recovery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40080" y="3291840"/>
            <a:ext cx="347472" cy="347472"/>
          </a:xfrm>
          <a:prstGeom prst="ellipse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5" name="Text 23"/>
          <p:cNvSpPr/>
          <p:nvPr/>
        </p:nvSpPr>
        <p:spPr>
          <a:xfrm>
            <a:off x="640080" y="3291840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143000" y="327355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B2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Lab POC &amp; résultats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143000" y="347472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VMs Proxmox, 4 tests validés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40080" y="3749040"/>
            <a:ext cx="347472" cy="347472"/>
          </a:xfrm>
          <a:prstGeom prst="ellipse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9" name="Text 27"/>
          <p:cNvSpPr/>
          <p:nvPr/>
        </p:nvSpPr>
        <p:spPr>
          <a:xfrm>
            <a:off x="640080" y="3749040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1143000" y="373075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B2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Stratégie de migration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1143000" y="393192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phases, planning 6 semaines, rollback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40080" y="4206240"/>
            <a:ext cx="347472" cy="347472"/>
          </a:xfrm>
          <a:prstGeom prst="ellipse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3" name="Text 31"/>
          <p:cNvSpPr/>
          <p:nvPr/>
        </p:nvSpPr>
        <p:spPr>
          <a:xfrm>
            <a:off x="640080" y="4206240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1143000" y="418795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B2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Budget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1143000" y="438912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137k € sur 150k max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400800" y="914400"/>
            <a:ext cx="2286000" cy="3657600"/>
          </a:xfrm>
          <a:prstGeom prst="rect">
            <a:avLst/>
          </a:prstGeom>
          <a:solidFill>
            <a:srgbClr val="1A2744">
              <a:alpha val="92000"/>
            </a:srgbClr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3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0" y="2103120"/>
            <a:ext cx="1188720" cy="1188720"/>
          </a:xfrm>
          <a:prstGeom prst="rect">
            <a:avLst/>
          </a:prstGeom>
        </p:spPr>
      </p:pic>
      <p:sp>
        <p:nvSpPr>
          <p:cNvPr id="38" name="Slide Number Placeholder 37">
            <a:extLst>
              <a:ext uri="{FF2B5EF4-FFF2-40B4-BE49-F238E27FC236}">
                <a16:creationId xmlns:a16="http://schemas.microsoft.com/office/drawing/2014/main" id="{6E1AA80D-5AA2-B9AF-E18F-86BD280C931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945FB95-144E-49FD-B7E5-5AC832B9F648}" type="slidenum">
              <a:rPr lang="fr-FR" smtClean="0"/>
              <a:t>2</a:t>
            </a:fld>
            <a:endParaRPr lang="fr-F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640080" y="2743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1B2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Contexte client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NordTransit Logistics - PME logistique, Hauts-de-France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371600"/>
            <a:ext cx="1828800" cy="19202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6" name="Shape 4"/>
          <p:cNvSpPr/>
          <p:nvPr/>
        </p:nvSpPr>
        <p:spPr>
          <a:xfrm>
            <a:off x="640080" y="1371600"/>
            <a:ext cx="1828800" cy="54864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5880" y="1554480"/>
            <a:ext cx="457200" cy="4572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40080" y="20574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0891B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3600" dirty="0"/>
          </a:p>
        </p:txBody>
      </p:sp>
      <p:sp>
        <p:nvSpPr>
          <p:cNvPr id="9" name="Text 6"/>
          <p:cNvSpPr/>
          <p:nvPr/>
        </p:nvSpPr>
        <p:spPr>
          <a:xfrm>
            <a:off x="640080" y="2514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Entrepôts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731520" y="27889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Lille, Lens, Valenciennes, Arras</a:t>
            </a:r>
            <a:endParaRPr lang="en-US" sz="9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1" name="Shape 8"/>
          <p:cNvSpPr/>
          <p:nvPr/>
        </p:nvSpPr>
        <p:spPr>
          <a:xfrm>
            <a:off x="2697480" y="1371600"/>
            <a:ext cx="1828800" cy="19202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2" name="Shape 9"/>
          <p:cNvSpPr/>
          <p:nvPr/>
        </p:nvSpPr>
        <p:spPr>
          <a:xfrm>
            <a:off x="2697480" y="1371600"/>
            <a:ext cx="1828800" cy="54864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3280" y="1554480"/>
            <a:ext cx="457200" cy="45720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2697480" y="20574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0891B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240</a:t>
            </a:r>
            <a:endParaRPr lang="en-US" sz="3600" dirty="0"/>
          </a:p>
        </p:txBody>
      </p:sp>
      <p:sp>
        <p:nvSpPr>
          <p:cNvPr id="15" name="Text 11"/>
          <p:cNvSpPr/>
          <p:nvPr/>
        </p:nvSpPr>
        <p:spPr>
          <a:xfrm>
            <a:off x="2697480" y="2514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Employés</a:t>
            </a:r>
            <a:endParaRPr lang="en-US" sz="1300" dirty="0"/>
          </a:p>
        </p:txBody>
      </p:sp>
      <p:sp>
        <p:nvSpPr>
          <p:cNvPr id="16" name="Text 12"/>
          <p:cNvSpPr/>
          <p:nvPr/>
        </p:nvSpPr>
        <p:spPr>
          <a:xfrm>
            <a:off x="2788920" y="27889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Jusqu'à 300 en haute saison</a:t>
            </a:r>
            <a:endParaRPr lang="en-US" sz="9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7" name="Shape 13"/>
          <p:cNvSpPr/>
          <p:nvPr/>
        </p:nvSpPr>
        <p:spPr>
          <a:xfrm>
            <a:off x="4754880" y="1371600"/>
            <a:ext cx="1828800" cy="19202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8" name="Shape 14"/>
          <p:cNvSpPr/>
          <p:nvPr/>
        </p:nvSpPr>
        <p:spPr>
          <a:xfrm>
            <a:off x="4754880" y="1371600"/>
            <a:ext cx="1828800" cy="54864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40680" y="1554480"/>
            <a:ext cx="457200" cy="45720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4754880" y="20574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0891B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20+</a:t>
            </a:r>
            <a:endParaRPr lang="en-US" sz="3600" dirty="0"/>
          </a:p>
        </p:txBody>
      </p:sp>
      <p:sp>
        <p:nvSpPr>
          <p:cNvPr id="21" name="Text 16"/>
          <p:cNvSpPr/>
          <p:nvPr/>
        </p:nvSpPr>
        <p:spPr>
          <a:xfrm>
            <a:off x="4754880" y="2514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VMs</a:t>
            </a:r>
            <a:endParaRPr lang="en-US" sz="1300" dirty="0"/>
          </a:p>
        </p:txBody>
      </p:sp>
      <p:sp>
        <p:nvSpPr>
          <p:cNvPr id="22" name="Text 17"/>
          <p:cNvSpPr/>
          <p:nvPr/>
        </p:nvSpPr>
        <p:spPr>
          <a:xfrm>
            <a:off x="4846320" y="27889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 un serveur unique (SPOF)</a:t>
            </a:r>
            <a:endParaRPr lang="en-US" sz="9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3" name="Shape 18"/>
          <p:cNvSpPr/>
          <p:nvPr/>
        </p:nvSpPr>
        <p:spPr>
          <a:xfrm>
            <a:off x="6812280" y="1371600"/>
            <a:ext cx="1828800" cy="19202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4" name="Shape 19"/>
          <p:cNvSpPr/>
          <p:nvPr/>
        </p:nvSpPr>
        <p:spPr>
          <a:xfrm>
            <a:off x="6812280" y="1371600"/>
            <a:ext cx="1828800" cy="54864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98080" y="1554480"/>
            <a:ext cx="457200" cy="457200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6812280" y="20574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0891B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3600" dirty="0"/>
          </a:p>
        </p:txBody>
      </p:sp>
      <p:sp>
        <p:nvSpPr>
          <p:cNvPr id="27" name="Text 21"/>
          <p:cNvSpPr/>
          <p:nvPr/>
        </p:nvSpPr>
        <p:spPr>
          <a:xfrm>
            <a:off x="6812280" y="2514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DSI</a:t>
            </a:r>
            <a:endParaRPr lang="en-US" sz="1300" dirty="0"/>
          </a:p>
        </p:txBody>
      </p:sp>
      <p:sp>
        <p:nvSpPr>
          <p:cNvPr id="28" name="Text 22"/>
          <p:cNvSpPr/>
          <p:nvPr/>
        </p:nvSpPr>
        <p:spPr>
          <a:xfrm>
            <a:off x="6903720" y="27889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resp. + 3 techniciens</a:t>
            </a:r>
            <a:endParaRPr lang="en-US" sz="9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9" name="Text 23"/>
          <p:cNvSpPr/>
          <p:nvPr/>
        </p:nvSpPr>
        <p:spPr>
          <a:xfrm>
            <a:off x="640080" y="37033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Système critique : WMS (gestion d'entrepôt) - indisponibilité = arrêt des 4 sites</a:t>
            </a:r>
            <a:endParaRPr lang="en-US" sz="1200" dirty="0"/>
          </a:p>
        </p:txBody>
      </p:sp>
      <p:sp>
        <p:nvSpPr>
          <p:cNvPr id="30" name="Shape 24"/>
          <p:cNvSpPr/>
          <p:nvPr/>
        </p:nvSpPr>
        <p:spPr>
          <a:xfrm>
            <a:off x="640080" y="4114800"/>
            <a:ext cx="7863840" cy="502920"/>
          </a:xfrm>
          <a:prstGeom prst="rect">
            <a:avLst/>
          </a:prstGeom>
          <a:solidFill>
            <a:srgbClr val="1A2744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1" name="Text 25"/>
          <p:cNvSpPr/>
          <p:nvPr/>
        </p:nvSpPr>
        <p:spPr>
          <a:xfrm>
            <a:off x="640080" y="411480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Horaires critiques WMS : 5h30 - 18h30  |  Active Directory : 24/7  |  VoIP : 7h00 - 18h30</a:t>
            </a:r>
            <a:endParaRPr lang="en-US" sz="1100" dirty="0"/>
          </a:p>
        </p:txBody>
      </p:sp>
      <p:sp>
        <p:nvSpPr>
          <p:cNvPr id="32" name="Slide Number Placeholder 31">
            <a:extLst>
              <a:ext uri="{FF2B5EF4-FFF2-40B4-BE49-F238E27FC236}">
                <a16:creationId xmlns:a16="http://schemas.microsoft.com/office/drawing/2014/main" id="{1D0E5894-8811-3D6A-F893-DC5C204E6EB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945FB95-144E-49FD-B7E5-5AC832B9F648}" type="slidenum">
              <a:rPr lang="fr-FR" smtClean="0"/>
              <a:t>3</a:t>
            </a:fld>
            <a:endParaRPr lang="fr-F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640080" y="2743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1B2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Problématique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051560"/>
            <a:ext cx="786384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640080" y="1051560"/>
            <a:ext cx="54864" cy="777240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1234440"/>
            <a:ext cx="411480" cy="4114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589520" y="1252728"/>
            <a:ext cx="685800" cy="365760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8" name="Text 5"/>
          <p:cNvSpPr/>
          <p:nvPr/>
        </p:nvSpPr>
        <p:spPr>
          <a:xfrm>
            <a:off x="7589520" y="1252728"/>
            <a:ext cx="685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P0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463040" y="1124712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B2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SPOF critique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463040" y="141732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Serveur unique Dell R630 - panne = arrêt total de tous les services (AD, WMS, VoIP, supervision)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40080" y="1965960"/>
            <a:ext cx="786384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2" name="Shape 9"/>
          <p:cNvSpPr/>
          <p:nvPr/>
        </p:nvSpPr>
        <p:spPr>
          <a:xfrm>
            <a:off x="640080" y="1965960"/>
            <a:ext cx="54864" cy="777240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148840"/>
            <a:ext cx="411480" cy="41148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7589520" y="2167128"/>
            <a:ext cx="685800" cy="365760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" name="Text 11"/>
          <p:cNvSpPr/>
          <p:nvPr/>
        </p:nvSpPr>
        <p:spPr>
          <a:xfrm>
            <a:off x="7589520" y="2167128"/>
            <a:ext cx="685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P0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1463040" y="2039112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B2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Pas de PRA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1463040" y="233172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Sinistre au siège = perte définitive des données, aucun plan de reprise d'activité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640080" y="2880360"/>
            <a:ext cx="786384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9" name="Shape 15"/>
          <p:cNvSpPr/>
          <p:nvPr/>
        </p:nvSpPr>
        <p:spPr>
          <a:xfrm>
            <a:off x="640080" y="2880360"/>
            <a:ext cx="54864" cy="777240"/>
          </a:xfrm>
          <a:prstGeom prst="rect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3063240"/>
            <a:ext cx="411480" cy="411480"/>
          </a:xfrm>
          <a:prstGeom prst="rect">
            <a:avLst/>
          </a:prstGeom>
        </p:spPr>
      </p:pic>
      <p:sp>
        <p:nvSpPr>
          <p:cNvPr id="21" name="Shape 16"/>
          <p:cNvSpPr/>
          <p:nvPr/>
        </p:nvSpPr>
        <p:spPr>
          <a:xfrm>
            <a:off x="7589520" y="3081528"/>
            <a:ext cx="685800" cy="365760"/>
          </a:xfrm>
          <a:prstGeom prst="rect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2" name="Text 17"/>
          <p:cNvSpPr/>
          <p:nvPr/>
        </p:nvSpPr>
        <p:spPr>
          <a:xfrm>
            <a:off x="7589520" y="3081528"/>
            <a:ext cx="685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</a:t>
            </a:r>
            <a:endParaRPr lang="en-US" sz="1200" dirty="0"/>
          </a:p>
        </p:txBody>
      </p:sp>
      <p:sp>
        <p:nvSpPr>
          <p:cNvPr id="23" name="Text 18"/>
          <p:cNvSpPr/>
          <p:nvPr/>
        </p:nvSpPr>
        <p:spPr>
          <a:xfrm>
            <a:off x="1463040" y="2953512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B2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Sécurité obsolète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1463040" y="324612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FortiGate 80D en fin de vie, DrayTek basiques, VPN IKEv1, MFA partiel (IT uniquement)</a:t>
            </a:r>
            <a:endParaRPr lang="en-US" sz="1100" dirty="0"/>
          </a:p>
        </p:txBody>
      </p:sp>
      <p:sp>
        <p:nvSpPr>
          <p:cNvPr id="25" name="Shape 20"/>
          <p:cNvSpPr/>
          <p:nvPr/>
        </p:nvSpPr>
        <p:spPr>
          <a:xfrm>
            <a:off x="640080" y="3794760"/>
            <a:ext cx="786384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6" name="Shape 21"/>
          <p:cNvSpPr/>
          <p:nvPr/>
        </p:nvSpPr>
        <p:spPr>
          <a:xfrm>
            <a:off x="640080" y="3794760"/>
            <a:ext cx="54864" cy="77724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8680" y="3977640"/>
            <a:ext cx="411480" cy="411480"/>
          </a:xfrm>
          <a:prstGeom prst="rect">
            <a:avLst/>
          </a:prstGeom>
        </p:spPr>
      </p:pic>
      <p:sp>
        <p:nvSpPr>
          <p:cNvPr id="28" name="Shape 22"/>
          <p:cNvSpPr/>
          <p:nvPr/>
        </p:nvSpPr>
        <p:spPr>
          <a:xfrm>
            <a:off x="7589520" y="3995928"/>
            <a:ext cx="685800" cy="36576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9" name="Text 23"/>
          <p:cNvSpPr/>
          <p:nvPr/>
        </p:nvSpPr>
        <p:spPr>
          <a:xfrm>
            <a:off x="7589520" y="3995928"/>
            <a:ext cx="685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</a:t>
            </a:r>
            <a:endParaRPr lang="en-US" sz="1200" dirty="0"/>
          </a:p>
        </p:txBody>
      </p:sp>
      <p:sp>
        <p:nvSpPr>
          <p:cNvPr id="30" name="Text 24"/>
          <p:cNvSpPr/>
          <p:nvPr/>
        </p:nvSpPr>
        <p:spPr>
          <a:xfrm>
            <a:off x="1463040" y="3867912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B2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VoIP dégradée</a:t>
            </a:r>
            <a:endParaRPr lang="en-US" sz="1500" dirty="0"/>
          </a:p>
        </p:txBody>
      </p:sp>
      <p:sp>
        <p:nvSpPr>
          <p:cNvPr id="31" name="Text 25"/>
          <p:cNvSpPr/>
          <p:nvPr/>
        </p:nvSpPr>
        <p:spPr>
          <a:xfrm>
            <a:off x="1463040" y="416052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Aucune QoS </a:t>
            </a:r>
            <a:r>
              <a:rPr lang="en-US" sz="11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configurée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la voix se coupe quand le réseau est chargé</a:t>
            </a:r>
            <a:endParaRPr lang="en-US" sz="1100" dirty="0"/>
          </a:p>
        </p:txBody>
      </p:sp>
      <p:sp>
        <p:nvSpPr>
          <p:cNvPr id="32" name="Slide Number Placeholder 31">
            <a:extLst>
              <a:ext uri="{FF2B5EF4-FFF2-40B4-BE49-F238E27FC236}">
                <a16:creationId xmlns:a16="http://schemas.microsoft.com/office/drawing/2014/main" id="{9D4620E7-AE71-B1E4-B937-8A22C1FA8EA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945FB95-144E-49FD-B7E5-5AC832B9F648}" type="slidenum">
              <a:rPr lang="fr-FR" smtClean="0"/>
              <a:t>4</a:t>
            </a:fld>
            <a:endParaRPr lang="fr-F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640080" y="2286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Architecture cible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68580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 d'ensemble de la solution proposée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3749040" cy="3108960"/>
          </a:xfrm>
          <a:prstGeom prst="rect">
            <a:avLst/>
          </a:prstGeom>
          <a:solidFill>
            <a:srgbClr val="1E3A5F">
              <a:alpha val="50000"/>
            </a:srgbClr>
          </a:solidFill>
          <a:ln w="1905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365760" y="114300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SIÈGE LILLE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94360" y="1600200"/>
            <a:ext cx="3291840" cy="411480"/>
          </a:xfrm>
          <a:prstGeom prst="rect">
            <a:avLst/>
          </a:prstGeom>
          <a:solidFill>
            <a:schemeClr val="accent5">
              <a:lumMod val="50000"/>
            </a:schemeClr>
          </a:solidFill>
          <a:ln/>
        </p:spPr>
        <p:txBody>
          <a:bodyPr/>
          <a:lstStyle/>
          <a:p>
            <a:endParaRPr lang="fr-FR">
              <a:solidFill>
                <a:schemeClr val="bg2"/>
              </a:solidFill>
            </a:endParaRPr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673352"/>
            <a:ext cx="274320" cy="2743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051560" y="160020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FortiGate 100F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94360" y="2148840"/>
            <a:ext cx="3291840" cy="411480"/>
          </a:xfrm>
          <a:prstGeom prst="rect">
            <a:avLst/>
          </a:prstGeom>
          <a:solidFill>
            <a:schemeClr val="accent5">
              <a:lumMod val="50000"/>
            </a:schemeClr>
          </a:solidFill>
          <a:ln/>
        </p:spPr>
        <p:txBody>
          <a:bodyPr/>
          <a:lstStyle/>
          <a:p>
            <a:endParaRPr lang="fr-FR">
              <a:solidFill>
                <a:schemeClr val="bg2"/>
              </a:solidFill>
            </a:endParaRPr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2221992"/>
            <a:ext cx="274320" cy="27432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051560" y="214884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 2x R650xs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594360" y="2697480"/>
            <a:ext cx="3291840" cy="411480"/>
          </a:xfrm>
          <a:prstGeom prst="rect">
            <a:avLst/>
          </a:prstGeom>
          <a:solidFill>
            <a:schemeClr val="accent5">
              <a:lumMod val="50000"/>
            </a:schemeClr>
          </a:solidFill>
          <a:ln/>
        </p:spPr>
        <p:txBody>
          <a:bodyPr/>
          <a:lstStyle/>
          <a:p>
            <a:endParaRPr lang="fr-FR">
              <a:solidFill>
                <a:schemeClr val="bg2"/>
              </a:solidFill>
            </a:endParaRPr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2770632"/>
            <a:ext cx="274320" cy="27432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051560" y="26974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 PowerVault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594360" y="3246120"/>
            <a:ext cx="3291840" cy="411480"/>
          </a:xfrm>
          <a:prstGeom prst="rect">
            <a:avLst/>
          </a:prstGeom>
          <a:solidFill>
            <a:schemeClr val="accent5">
              <a:lumMod val="50000"/>
            </a:schemeClr>
          </a:solidFill>
          <a:ln/>
        </p:spPr>
        <p:txBody>
          <a:bodyPr/>
          <a:lstStyle/>
          <a:p>
            <a:endParaRPr lang="fr-FR">
              <a:solidFill>
                <a:schemeClr val="bg2"/>
              </a:solidFill>
            </a:endParaRPr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3319272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051560" y="324612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(DC01 + DC02)</a:t>
            </a:r>
            <a:endParaRPr lang="en-US" sz="1200" dirty="0"/>
          </a:p>
        </p:txBody>
      </p:sp>
      <p:sp>
        <p:nvSpPr>
          <p:cNvPr id="19" name="Shape 13"/>
          <p:cNvSpPr/>
          <p:nvPr/>
        </p:nvSpPr>
        <p:spPr>
          <a:xfrm>
            <a:off x="5212080" y="1143000"/>
            <a:ext cx="3566160" cy="1371600"/>
          </a:xfrm>
          <a:prstGeom prst="rect">
            <a:avLst/>
          </a:prstGeom>
          <a:solidFill>
            <a:srgbClr val="1E3A5F">
              <a:alpha val="50000"/>
            </a:srgbClr>
          </a:solidFill>
          <a:ln w="1905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Text 14"/>
          <p:cNvSpPr/>
          <p:nvPr/>
        </p:nvSpPr>
        <p:spPr>
          <a:xfrm>
            <a:off x="5212080" y="114300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ENTREPÔTS x4</a:t>
            </a:r>
            <a:endParaRPr lang="en-US" sz="1100" dirty="0"/>
          </a:p>
        </p:txBody>
      </p:sp>
      <p:sp>
        <p:nvSpPr>
          <p:cNvPr id="21" name="Shape 15"/>
          <p:cNvSpPr/>
          <p:nvPr/>
        </p:nvSpPr>
        <p:spPr>
          <a:xfrm>
            <a:off x="5440680" y="1600200"/>
            <a:ext cx="3108960" cy="411480"/>
          </a:xfrm>
          <a:prstGeom prst="rect">
            <a:avLst/>
          </a:prstGeom>
          <a:solidFill>
            <a:schemeClr val="accent5">
              <a:lumMod val="50000"/>
            </a:schemeClr>
          </a:solidFill>
          <a:ln/>
        </p:spPr>
        <p:txBody>
          <a:bodyPr/>
          <a:lstStyle/>
          <a:p>
            <a:endParaRPr lang="fr-FR">
              <a:solidFill>
                <a:schemeClr val="bg2"/>
              </a:solidFill>
            </a:endParaRPr>
          </a:p>
        </p:txBody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2120" y="1673352"/>
            <a:ext cx="274320" cy="27432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5897880" y="160020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FortiGate 60F / 40F</a:t>
            </a:r>
            <a:endParaRPr lang="en-US" sz="1200" dirty="0"/>
          </a:p>
        </p:txBody>
      </p:sp>
      <p:sp>
        <p:nvSpPr>
          <p:cNvPr id="24" name="Shape 17"/>
          <p:cNvSpPr/>
          <p:nvPr/>
        </p:nvSpPr>
        <p:spPr>
          <a:xfrm>
            <a:off x="5440680" y="2103120"/>
            <a:ext cx="3108960" cy="274320"/>
          </a:xfrm>
          <a:prstGeom prst="rect">
            <a:avLst/>
          </a:prstGeom>
          <a:solidFill>
            <a:schemeClr val="accent5">
              <a:lumMod val="50000"/>
            </a:schemeClr>
          </a:solidFill>
          <a:ln/>
        </p:spPr>
        <p:txBody>
          <a:bodyPr/>
          <a:lstStyle/>
          <a:p>
            <a:endParaRPr lang="fr-FR">
              <a:solidFill>
                <a:schemeClr val="bg2"/>
              </a:solidFill>
            </a:endParaRPr>
          </a:p>
        </p:txBody>
      </p:sp>
      <p:sp>
        <p:nvSpPr>
          <p:cNvPr id="25" name="Text 18"/>
          <p:cNvSpPr/>
          <p:nvPr/>
        </p:nvSpPr>
        <p:spPr>
          <a:xfrm>
            <a:off x="5440680" y="2103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Cisco C9200-24P  |  Postes + RF</a:t>
            </a:r>
            <a:endParaRPr lang="en-US" sz="1000" dirty="0"/>
          </a:p>
        </p:txBody>
      </p:sp>
      <p:sp>
        <p:nvSpPr>
          <p:cNvPr id="26" name="Shape 19"/>
          <p:cNvSpPr/>
          <p:nvPr/>
        </p:nvSpPr>
        <p:spPr>
          <a:xfrm>
            <a:off x="4114800" y="1801368"/>
            <a:ext cx="1097280" cy="0"/>
          </a:xfrm>
          <a:prstGeom prst="line">
            <a:avLst/>
          </a:prstGeom>
          <a:noFill/>
          <a:ln w="25400">
            <a:solidFill>
              <a:srgbClr val="22D3EE"/>
            </a:solidFill>
            <a:prstDash val="dash"/>
          </a:ln>
        </p:spPr>
        <p:txBody>
          <a:bodyPr/>
          <a:lstStyle/>
          <a:p>
            <a:endParaRPr lang="fr-FR"/>
          </a:p>
        </p:txBody>
      </p:sp>
      <p:sp>
        <p:nvSpPr>
          <p:cNvPr id="27" name="Shape 20"/>
          <p:cNvSpPr/>
          <p:nvPr/>
        </p:nvSpPr>
        <p:spPr>
          <a:xfrm>
            <a:off x="4160520" y="1920240"/>
            <a:ext cx="1005840" cy="45720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8" name="Text 21"/>
          <p:cNvSpPr/>
          <p:nvPr/>
        </p:nvSpPr>
        <p:spPr>
          <a:xfrm>
            <a:off x="4160520" y="1920240"/>
            <a:ext cx="1005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VPN IKEv2</a:t>
            </a:r>
            <a:endParaRPr lang="en-US" sz="9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AES-256-GCM</a:t>
            </a:r>
            <a:endParaRPr lang="en-US" sz="900" dirty="0"/>
          </a:p>
        </p:txBody>
      </p:sp>
      <p:sp>
        <p:nvSpPr>
          <p:cNvPr id="29" name="Shape 22"/>
          <p:cNvSpPr/>
          <p:nvPr/>
        </p:nvSpPr>
        <p:spPr>
          <a:xfrm>
            <a:off x="5212080" y="2743200"/>
            <a:ext cx="3566160" cy="1508760"/>
          </a:xfrm>
          <a:prstGeom prst="rect">
            <a:avLst/>
          </a:prstGeom>
          <a:solidFill>
            <a:srgbClr val="1E3A5F">
              <a:alpha val="50000"/>
            </a:srgbClr>
          </a:solidFill>
          <a:ln w="190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0" name="Text 23"/>
          <p:cNvSpPr/>
          <p:nvPr/>
        </p:nvSpPr>
        <p:spPr>
          <a:xfrm>
            <a:off x="5212080" y="274320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— PRA</a:t>
            </a:r>
            <a:endParaRPr lang="en-US" sz="1100" dirty="0"/>
          </a:p>
        </p:txBody>
      </p:sp>
      <p:sp>
        <p:nvSpPr>
          <p:cNvPr id="31" name="Shape 24"/>
          <p:cNvSpPr/>
          <p:nvPr/>
        </p:nvSpPr>
        <p:spPr>
          <a:xfrm>
            <a:off x="5440680" y="3154680"/>
            <a:ext cx="3108960" cy="292608"/>
          </a:xfrm>
          <a:prstGeom prst="rect">
            <a:avLst/>
          </a:prstGeom>
          <a:solidFill>
            <a:schemeClr val="accent4">
              <a:lumMod val="50000"/>
            </a:schemeClr>
          </a:solidFill>
          <a:ln/>
        </p:spPr>
        <p:txBody>
          <a:bodyPr/>
          <a:lstStyle/>
          <a:p>
            <a:endParaRPr lang="fr-FR">
              <a:solidFill>
                <a:schemeClr val="bg2"/>
              </a:solidFill>
            </a:endParaRPr>
          </a:p>
        </p:txBody>
      </p:sp>
      <p:pic>
        <p:nvPicPr>
          <p:cNvPr id="32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32120" y="3191256"/>
            <a:ext cx="219456" cy="219456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5852160" y="315468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 répliqué (RPO = 0)</a:t>
            </a:r>
            <a:endParaRPr lang="en-US" sz="1000" dirty="0"/>
          </a:p>
        </p:txBody>
      </p:sp>
      <p:sp>
        <p:nvSpPr>
          <p:cNvPr id="34" name="Shape 26"/>
          <p:cNvSpPr/>
          <p:nvPr/>
        </p:nvSpPr>
        <p:spPr>
          <a:xfrm>
            <a:off x="5440680" y="3520440"/>
            <a:ext cx="3108960" cy="292608"/>
          </a:xfrm>
          <a:prstGeom prst="rect">
            <a:avLst/>
          </a:prstGeom>
          <a:solidFill>
            <a:schemeClr val="accent4">
              <a:lumMod val="50000"/>
            </a:schemeClr>
          </a:solidFill>
          <a:ln/>
        </p:spPr>
        <p:txBody>
          <a:bodyPr/>
          <a:lstStyle/>
          <a:p>
            <a:endParaRPr lang="fr-FR">
              <a:solidFill>
                <a:schemeClr val="bg2"/>
              </a:solidFill>
            </a:endParaRPr>
          </a:p>
        </p:txBody>
      </p:sp>
      <p:pic>
        <p:nvPicPr>
          <p:cNvPr id="35" name="Image 6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32120" y="3557016"/>
            <a:ext cx="219456" cy="219456"/>
          </a:xfrm>
          <a:prstGeom prst="rect">
            <a:avLst/>
          </a:prstGeom>
        </p:spPr>
      </p:pic>
      <p:sp>
        <p:nvSpPr>
          <p:cNvPr id="36" name="Text 27"/>
          <p:cNvSpPr/>
          <p:nvPr/>
        </p:nvSpPr>
        <p:spPr>
          <a:xfrm>
            <a:off x="5852160" y="352044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 Recovery (20 VMs)</a:t>
            </a:r>
            <a:endParaRPr lang="en-US" sz="1000" dirty="0"/>
          </a:p>
        </p:txBody>
      </p:sp>
      <p:sp>
        <p:nvSpPr>
          <p:cNvPr id="37" name="Shape 28"/>
          <p:cNvSpPr/>
          <p:nvPr/>
        </p:nvSpPr>
        <p:spPr>
          <a:xfrm>
            <a:off x="5440680" y="3886200"/>
            <a:ext cx="3108960" cy="292608"/>
          </a:xfrm>
          <a:prstGeom prst="rect">
            <a:avLst/>
          </a:prstGeom>
          <a:solidFill>
            <a:schemeClr val="accent4">
              <a:lumMod val="50000"/>
            </a:schemeClr>
          </a:solidFill>
          <a:ln/>
        </p:spPr>
        <p:txBody>
          <a:bodyPr/>
          <a:lstStyle/>
          <a:p>
            <a:endParaRPr lang="fr-FR">
              <a:solidFill>
                <a:schemeClr val="bg2"/>
              </a:solidFill>
            </a:endParaRPr>
          </a:p>
        </p:txBody>
      </p:sp>
      <p:pic>
        <p:nvPicPr>
          <p:cNvPr id="38" name="Image 7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32120" y="3922776"/>
            <a:ext cx="219456" cy="219456"/>
          </a:xfrm>
          <a:prstGeom prst="rect">
            <a:avLst/>
          </a:prstGeom>
        </p:spPr>
      </p:pic>
      <p:sp>
        <p:nvSpPr>
          <p:cNvPr id="39" name="Text 29"/>
          <p:cNvSpPr/>
          <p:nvPr/>
        </p:nvSpPr>
        <p:spPr>
          <a:xfrm>
            <a:off x="5852160" y="388620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Blob Storage + Witness</a:t>
            </a:r>
            <a:endParaRPr lang="en-US" sz="1000" dirty="0"/>
          </a:p>
        </p:txBody>
      </p:sp>
      <p:sp>
        <p:nvSpPr>
          <p:cNvPr id="40" name="Shape 30"/>
          <p:cNvSpPr/>
          <p:nvPr/>
        </p:nvSpPr>
        <p:spPr>
          <a:xfrm>
            <a:off x="4114800" y="3291840"/>
            <a:ext cx="1097280" cy="0"/>
          </a:xfrm>
          <a:prstGeom prst="line">
            <a:avLst/>
          </a:prstGeom>
          <a:noFill/>
          <a:ln w="25400">
            <a:solidFill>
              <a:srgbClr val="F59E0B"/>
            </a:solidFill>
            <a:prstDash val="dash"/>
          </a:ln>
        </p:spPr>
        <p:txBody>
          <a:bodyPr/>
          <a:lstStyle/>
          <a:p>
            <a:endParaRPr lang="fr-FR"/>
          </a:p>
        </p:txBody>
      </p:sp>
      <p:sp>
        <p:nvSpPr>
          <p:cNvPr id="41" name="Shape 31"/>
          <p:cNvSpPr/>
          <p:nvPr/>
        </p:nvSpPr>
        <p:spPr>
          <a:xfrm>
            <a:off x="4389120" y="3406139"/>
            <a:ext cx="594360" cy="457200"/>
          </a:xfrm>
          <a:prstGeom prst="rect">
            <a:avLst/>
          </a:prstGeom>
          <a:solidFill>
            <a:srgbClr val="F59E0B">
              <a:alpha val="30000"/>
            </a:srgbClr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42" name="Text 32"/>
          <p:cNvSpPr/>
          <p:nvPr/>
        </p:nvSpPr>
        <p:spPr>
          <a:xfrm>
            <a:off x="4389120" y="3410712"/>
            <a:ext cx="594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VPN</a:t>
            </a:r>
            <a:endParaRPr lang="en-US" sz="800" dirty="0"/>
          </a:p>
          <a:p>
            <a:pPr marL="0" indent="0" algn="ctr">
              <a:buNone/>
            </a:pPr>
            <a:r>
              <a:rPr lang="en-US" sz="8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</a:t>
            </a:r>
            <a:endParaRPr lang="en-US" sz="800" dirty="0"/>
          </a:p>
        </p:txBody>
      </p:sp>
      <p:sp>
        <p:nvSpPr>
          <p:cNvPr id="43" name="Shape 33"/>
          <p:cNvSpPr/>
          <p:nvPr/>
        </p:nvSpPr>
        <p:spPr>
          <a:xfrm>
            <a:off x="365760" y="4434840"/>
            <a:ext cx="8412480" cy="411480"/>
          </a:xfrm>
          <a:prstGeom prst="rect">
            <a:avLst/>
          </a:prstGeom>
          <a:solidFill>
            <a:srgbClr val="0891B2">
              <a:alpha val="20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4" name="Text 34"/>
          <p:cNvSpPr/>
          <p:nvPr/>
        </p:nvSpPr>
        <p:spPr>
          <a:xfrm>
            <a:off x="365760" y="443484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: 137k € / 150k max  —  FortiGate homogènes  —  Cluster HA  —  PRA Azure  —  QoS VoIP</a:t>
            </a:r>
            <a:endParaRPr lang="en-US" sz="1100" dirty="0"/>
          </a:p>
        </p:txBody>
      </p:sp>
      <p:sp>
        <p:nvSpPr>
          <p:cNvPr id="45" name="Slide Number Placeholder 44">
            <a:extLst>
              <a:ext uri="{FF2B5EF4-FFF2-40B4-BE49-F238E27FC236}">
                <a16:creationId xmlns:a16="http://schemas.microsoft.com/office/drawing/2014/main" id="{7981E068-B07D-9551-2F81-AB9B27D3162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945FB95-144E-49FD-B7E5-5AC832B9F648}" type="slidenum">
              <a:rPr lang="fr-FR" smtClean="0"/>
              <a:t>5</a:t>
            </a:fld>
            <a:endParaRPr lang="fr-F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640080" y="2743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1B2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Sécurité &amp; réseau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051560"/>
            <a:ext cx="3840480" cy="21031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640080" y="1051560"/>
            <a:ext cx="3840480" cy="54864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234440"/>
            <a:ext cx="320040" cy="3200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34440" y="12344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B2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Pare-feu FortiGate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22960" y="1691640"/>
            <a:ext cx="34747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Siège : FortiGate 100F (Hub VPN, UTM)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Entrepôts : 3x FortiGate 60F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Cross-dock : FortiGate 40F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centralisée + politique uniforme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663440" y="1051560"/>
            <a:ext cx="3840480" cy="21031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0" name="Shape 7"/>
          <p:cNvSpPr/>
          <p:nvPr/>
        </p:nvSpPr>
        <p:spPr>
          <a:xfrm>
            <a:off x="4663440" y="1051560"/>
            <a:ext cx="3840480" cy="54864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1234440"/>
            <a:ext cx="320040" cy="32004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257800" y="12344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B2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VPN &amp; segmentation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4846320" y="1691640"/>
            <a:ext cx="34747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IKEv2 + AES-256-GCM (5 tunnels)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DPD (Dead Peer Detection)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VLANs : MGMT, Serveurs, Data, VoIP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Filtrage inter-VLAN strict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640080" y="3383280"/>
            <a:ext cx="7863840" cy="320040"/>
          </a:xfrm>
          <a:prstGeom prst="rect">
            <a:avLst/>
          </a:prstGeom>
          <a:solidFill>
            <a:srgbClr val="1A2744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" name="Text 11"/>
          <p:cNvSpPr/>
          <p:nvPr/>
        </p:nvSpPr>
        <p:spPr>
          <a:xfrm>
            <a:off x="640080" y="338328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QoS par VLAN — Priorisation du trafic</a:t>
            </a:r>
            <a:endParaRPr lang="en-US" sz="1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749040"/>
          <a:ext cx="7863840" cy="1231392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VLAN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91B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Priorité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91B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DSCP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91B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Bande passante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91B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VOIP (40)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Haute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 (46)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30% minimum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SERVEURS (20)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Moyenne-Haute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AF31 (26)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(30)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 (0)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effort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MGMT (10)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CS2 (16)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800C71C8-35F7-E2D6-8047-50993EEF50B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945FB95-144E-49FD-B7E5-5AC832B9F648}" type="slidenum">
              <a:rPr lang="fr-FR" smtClean="0"/>
              <a:t>6</a:t>
            </a:fld>
            <a:endParaRPr lang="fr-F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640080" y="2743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1B2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Haute disponibilité &amp; PRA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051560"/>
            <a:ext cx="3840480" cy="23774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640080" y="1051560"/>
            <a:ext cx="3840480" cy="54864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234440"/>
            <a:ext cx="320040" cy="3200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34440" y="12344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B2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Cluster on-premise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22960" y="1691640"/>
            <a:ext cx="34747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2x Dell R650xs (256 Go RAM)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 iSCSI PowerVault ME5012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Quorum via Azure Cloud Witness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Basculement automatique &lt; 5 min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Économie ~15k € vs 3 nœuds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663440" y="1051560"/>
            <a:ext cx="3840480" cy="23774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0" name="Shape 7"/>
          <p:cNvSpPr/>
          <p:nvPr/>
        </p:nvSpPr>
        <p:spPr>
          <a:xfrm>
            <a:off x="4663440" y="1051560"/>
            <a:ext cx="3840480" cy="54864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1234440"/>
            <a:ext cx="320040" cy="32004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257800" y="12344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B2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PRA Azure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4846320" y="1691640"/>
            <a:ext cx="34747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 répliqué dans Azure (RPO = 0)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Site Recovery (20 VMs)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Blob Storage pour les backups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VPN Gateway site-à-site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Reserved 3 ans (-40% de coût)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640080" y="3657600"/>
            <a:ext cx="7863840" cy="320040"/>
          </a:xfrm>
          <a:prstGeom prst="rect">
            <a:avLst/>
          </a:prstGeom>
          <a:solidFill>
            <a:srgbClr val="1A2744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" name="Text 11"/>
          <p:cNvSpPr/>
          <p:nvPr/>
        </p:nvSpPr>
        <p:spPr>
          <a:xfrm>
            <a:off x="640080" y="365760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Objectifs RTO / RPO</a:t>
            </a:r>
            <a:endParaRPr lang="en-US" sz="1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4023360"/>
          <a:ext cx="7863840" cy="987552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91B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RTO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91B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91B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Mécanisme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91B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Active Directory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15 min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(temps réel)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DC répliqué Azure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WMS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1h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15 min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Azure Site Recovery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Téléphonie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30 min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Restart VM sur nœud sain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B8E0191A-7FA7-021C-3C0F-19978C0EE0B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945FB95-144E-49FD-B7E5-5AC832B9F648}" type="slidenum">
              <a:rPr lang="fr-FR" smtClean="0"/>
              <a:t>7</a:t>
            </a:fld>
            <a:endParaRPr lang="fr-F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640080" y="2743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1B2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Lab POC — Proof of Concept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VMs sur Proxmox VE pour valider chaque brique de l'architecture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1325880"/>
            <a:ext cx="4572000" cy="29260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6" name="Shape 4"/>
          <p:cNvSpPr/>
          <p:nvPr/>
        </p:nvSpPr>
        <p:spPr>
          <a:xfrm>
            <a:off x="365760" y="1325880"/>
            <a:ext cx="4572000" cy="54864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" name="Text 5"/>
          <p:cNvSpPr/>
          <p:nvPr/>
        </p:nvSpPr>
        <p:spPr>
          <a:xfrm>
            <a:off x="365760" y="1417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 Siège — 172.16.132.0/24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94360" y="1828800"/>
            <a:ext cx="2011680" cy="365760"/>
          </a:xfrm>
          <a:prstGeom prst="rect">
            <a:avLst/>
          </a:prstGeom>
          <a:solidFill>
            <a:schemeClr val="accent5">
              <a:lumMod val="50000"/>
            </a:scheme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" name="Text 7"/>
          <p:cNvSpPr/>
          <p:nvPr/>
        </p:nvSpPr>
        <p:spPr>
          <a:xfrm>
            <a:off x="594360" y="182880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FW-SIEGE (pfSense)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94360" y="2331720"/>
            <a:ext cx="2011680" cy="365760"/>
          </a:xfrm>
          <a:prstGeom prst="rect">
            <a:avLst/>
          </a:prstGeom>
          <a:solidFill>
            <a:schemeClr val="accent5">
              <a:lumMod val="75000"/>
            </a:scheme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1" name="Text 9"/>
          <p:cNvSpPr/>
          <p:nvPr/>
        </p:nvSpPr>
        <p:spPr>
          <a:xfrm>
            <a:off x="594360" y="233172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DC01 (Win Server)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94360" y="2788920"/>
            <a:ext cx="2011680" cy="365760"/>
          </a:xfrm>
          <a:prstGeom prst="rect">
            <a:avLst/>
          </a:prstGeom>
          <a:solidFill>
            <a:schemeClr val="accent5">
              <a:lumMod val="75000"/>
            </a:scheme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3" name="Text 11"/>
          <p:cNvSpPr/>
          <p:nvPr/>
        </p:nvSpPr>
        <p:spPr>
          <a:xfrm>
            <a:off x="594360" y="278892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DC02 (Win Server)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743200" y="1828800"/>
            <a:ext cx="2011680" cy="365760"/>
          </a:xfrm>
          <a:prstGeom prst="rect">
            <a:avLst/>
          </a:prstGeom>
          <a:solidFill>
            <a:schemeClr val="accent5">
              <a:lumMod val="75000"/>
            </a:schemeClr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15" name="Text 13"/>
          <p:cNvSpPr/>
          <p:nvPr/>
        </p:nvSpPr>
        <p:spPr>
          <a:xfrm>
            <a:off x="2743200" y="182880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WMS (Ubuntu + MySQL)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743200" y="2331720"/>
            <a:ext cx="2011680" cy="365760"/>
          </a:xfrm>
          <a:prstGeom prst="rect">
            <a:avLst/>
          </a:prstGeom>
          <a:solidFill>
            <a:schemeClr val="accent5">
              <a:lumMod val="75000"/>
            </a:scheme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7" name="Text 15"/>
          <p:cNvSpPr/>
          <p:nvPr/>
        </p:nvSpPr>
        <p:spPr>
          <a:xfrm>
            <a:off x="2743200" y="233172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IPBX (FreePBX)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94360" y="333756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→ Lab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94360" y="356616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FortiGate → pfSense  |  Windows Server → identique  |  WMS → Ubuntu + MySQL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94360" y="379476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Limite : pas de failover cluster physique en lab (couvert par specs Dell)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4937760" y="2286000"/>
            <a:ext cx="731520" cy="0"/>
          </a:xfrm>
          <a:prstGeom prst="line">
            <a:avLst/>
          </a:prstGeom>
          <a:noFill/>
          <a:ln w="25400">
            <a:solidFill>
              <a:schemeClr val="accent4">
                <a:lumMod val="75000"/>
              </a:schemeClr>
            </a:solidFill>
            <a:prstDash val="dash"/>
          </a:ln>
        </p:spPr>
        <p:txBody>
          <a:bodyPr/>
          <a:lstStyle/>
          <a:p>
            <a:endParaRPr lang="fr-FR"/>
          </a:p>
        </p:txBody>
      </p:sp>
      <p:sp>
        <p:nvSpPr>
          <p:cNvPr id="22" name="Shape 20"/>
          <p:cNvSpPr/>
          <p:nvPr/>
        </p:nvSpPr>
        <p:spPr>
          <a:xfrm>
            <a:off x="5029200" y="2377440"/>
            <a:ext cx="548640" cy="320040"/>
          </a:xfrm>
          <a:prstGeom prst="rect">
            <a:avLst/>
          </a:prstGeom>
          <a:solidFill>
            <a:schemeClr val="accent4">
              <a:lumMod val="75000"/>
            </a:scheme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3" name="Text 21"/>
          <p:cNvSpPr/>
          <p:nvPr/>
        </p:nvSpPr>
        <p:spPr>
          <a:xfrm>
            <a:off x="5031111" y="237744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Tunnel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669280" y="1325880"/>
            <a:ext cx="3108960" cy="16916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5" name="Shape 23"/>
          <p:cNvSpPr/>
          <p:nvPr/>
        </p:nvSpPr>
        <p:spPr>
          <a:xfrm>
            <a:off x="5669280" y="1325880"/>
            <a:ext cx="3108960" cy="54864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6" name="Text 24"/>
          <p:cNvSpPr/>
          <p:nvPr/>
        </p:nvSpPr>
        <p:spPr>
          <a:xfrm>
            <a:off x="5669280" y="14173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 Azure — 10.100.0.0/24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897880" y="1828800"/>
            <a:ext cx="2651760" cy="365760"/>
          </a:xfrm>
          <a:prstGeom prst="rect">
            <a:avLst/>
          </a:prstGeom>
          <a:solidFill>
            <a:schemeClr val="accent4">
              <a:lumMod val="50000"/>
            </a:scheme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8" name="Text 26"/>
          <p:cNvSpPr/>
          <p:nvPr/>
        </p:nvSpPr>
        <p:spPr>
          <a:xfrm>
            <a:off x="5897880" y="182880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FW-AZURE (pfSense)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897880" y="2331720"/>
            <a:ext cx="2651760" cy="365760"/>
          </a:xfrm>
          <a:prstGeom prst="rect">
            <a:avLst/>
          </a:prstGeom>
          <a:solidFill>
            <a:schemeClr val="accent4">
              <a:lumMod val="75000"/>
            </a:scheme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0" name="Text 28"/>
          <p:cNvSpPr/>
          <p:nvPr/>
        </p:nvSpPr>
        <p:spPr>
          <a:xfrm>
            <a:off x="5897880" y="23317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DC-AZURE (Win Server)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669280" y="3246121"/>
            <a:ext cx="3108960" cy="457200"/>
          </a:xfrm>
          <a:prstGeom prst="rect">
            <a:avLst/>
          </a:prstGeom>
          <a:solidFill>
            <a:schemeClr val="accent5">
              <a:lumMod val="75000"/>
            </a:scheme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2" name="Text 30"/>
          <p:cNvSpPr/>
          <p:nvPr/>
        </p:nvSpPr>
        <p:spPr>
          <a:xfrm>
            <a:off x="5669280" y="3246121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Proxmox VE 9.1</a:t>
            </a:r>
            <a:endParaRPr lang="en-US" sz="900" dirty="0">
              <a:solidFill>
                <a:schemeClr val="bg1"/>
              </a:solidFill>
            </a:endParaRPr>
          </a:p>
          <a:p>
            <a:pPr marL="0" indent="0" algn="ctr">
              <a:buNone/>
            </a:pPr>
            <a:r>
              <a:rPr lang="en-US" sz="9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Go RAM | 720 Go SSD</a:t>
            </a:r>
            <a:endParaRPr lang="en-US" sz="900" dirty="0">
              <a:solidFill>
                <a:schemeClr val="bg1"/>
              </a:solidFill>
            </a:endParaRPr>
          </a:p>
        </p:txBody>
      </p:sp>
      <p:sp>
        <p:nvSpPr>
          <p:cNvPr id="33" name="Slide Number Placeholder 32">
            <a:extLst>
              <a:ext uri="{FF2B5EF4-FFF2-40B4-BE49-F238E27FC236}">
                <a16:creationId xmlns:a16="http://schemas.microsoft.com/office/drawing/2014/main" id="{3FFC7F07-F500-B085-F971-6D9B86710CD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945FB95-144E-49FD-B7E5-5AC832B9F648}" type="slidenum">
              <a:rPr lang="fr-FR" smtClean="0"/>
              <a:t>8</a:t>
            </a:fld>
            <a:endParaRPr lang="fr-F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640080" y="2743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1B2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Résultats POC - 4 tests, 4 PASS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051560"/>
            <a:ext cx="3840480" cy="16459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640080" y="1051560"/>
            <a:ext cx="3840480" cy="54864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6" name="Shape 4"/>
          <p:cNvSpPr/>
          <p:nvPr/>
        </p:nvSpPr>
        <p:spPr>
          <a:xfrm>
            <a:off x="3566160" y="1188720"/>
            <a:ext cx="731520" cy="32004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" name="Text 5"/>
          <p:cNvSpPr/>
          <p:nvPr/>
        </p:nvSpPr>
        <p:spPr>
          <a:xfrm>
            <a:off x="3566160" y="118872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</a:t>
            </a:r>
            <a:endParaRPr lang="en-US" sz="110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234440"/>
            <a:ext cx="365760" cy="36576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280160" y="121615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B2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QoS VoIP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280160" y="1490472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VoIP stable sous 500 Mbps de charge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777240" y="1920240"/>
            <a:ext cx="3566160" cy="594360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2" name="Text 9"/>
          <p:cNvSpPr/>
          <p:nvPr/>
        </p:nvSpPr>
        <p:spPr>
          <a:xfrm>
            <a:off x="914400" y="192024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Latence 0.1ms  |  Jitter 0.04ms  |  0% perte  |  MOS 4.4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4754880" y="1051560"/>
            <a:ext cx="3840480" cy="16459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4" name="Shape 11"/>
          <p:cNvSpPr/>
          <p:nvPr/>
        </p:nvSpPr>
        <p:spPr>
          <a:xfrm>
            <a:off x="4754880" y="1051560"/>
            <a:ext cx="3840480" cy="54864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" name="Shape 12"/>
          <p:cNvSpPr/>
          <p:nvPr/>
        </p:nvSpPr>
        <p:spPr>
          <a:xfrm>
            <a:off x="7680960" y="1188720"/>
            <a:ext cx="731520" cy="32004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6" name="Text 13"/>
          <p:cNvSpPr/>
          <p:nvPr/>
        </p:nvSpPr>
        <p:spPr>
          <a:xfrm>
            <a:off x="7680960" y="118872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</a:t>
            </a:r>
            <a:endParaRPr lang="en-US" sz="1100" dirty="0"/>
          </a:p>
        </p:txBody>
      </p:sp>
      <p:pic>
        <p:nvPicPr>
          <p:cNvPr id="1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7760" y="1234440"/>
            <a:ext cx="365760" cy="365760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5394960" y="121615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B2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Failover AD</a:t>
            </a:r>
            <a:endParaRPr lang="en-US" sz="1500" dirty="0"/>
          </a:p>
        </p:txBody>
      </p:sp>
      <p:sp>
        <p:nvSpPr>
          <p:cNvPr id="19" name="Text 15"/>
          <p:cNvSpPr/>
          <p:nvPr/>
        </p:nvSpPr>
        <p:spPr>
          <a:xfrm>
            <a:off x="5394960" y="1490472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DC02 prend le relais si DC01 tombe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4892040" y="1920240"/>
            <a:ext cx="3566160" cy="594360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1" name="Text 17"/>
          <p:cNvSpPr/>
          <p:nvPr/>
        </p:nvSpPr>
        <p:spPr>
          <a:xfrm>
            <a:off x="5029200" y="192024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Bascule &lt; 30s  |  DNS + Auth OK  |  Réplication 0 erreurs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640080" y="2880360"/>
            <a:ext cx="3840480" cy="16459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3" name="Shape 19"/>
          <p:cNvSpPr/>
          <p:nvPr/>
        </p:nvSpPr>
        <p:spPr>
          <a:xfrm>
            <a:off x="640080" y="2880360"/>
            <a:ext cx="3840480" cy="54864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4" name="Shape 20"/>
          <p:cNvSpPr/>
          <p:nvPr/>
        </p:nvSpPr>
        <p:spPr>
          <a:xfrm>
            <a:off x="3566160" y="3017520"/>
            <a:ext cx="731520" cy="32004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5" name="Text 21"/>
          <p:cNvSpPr/>
          <p:nvPr/>
        </p:nvSpPr>
        <p:spPr>
          <a:xfrm>
            <a:off x="3566160" y="301752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</a:t>
            </a:r>
            <a:endParaRPr lang="en-US" sz="1100" dirty="0"/>
          </a:p>
        </p:txBody>
      </p:sp>
      <p:pic>
        <p:nvPicPr>
          <p:cNvPr id="2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3063240"/>
            <a:ext cx="365760" cy="365760"/>
          </a:xfrm>
          <a:prstGeom prst="rect">
            <a:avLst/>
          </a:prstGeom>
        </p:spPr>
      </p:pic>
      <p:sp>
        <p:nvSpPr>
          <p:cNvPr id="27" name="Text 22"/>
          <p:cNvSpPr/>
          <p:nvPr/>
        </p:nvSpPr>
        <p:spPr>
          <a:xfrm>
            <a:off x="1280160" y="304495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B2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Failover WMS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1280160" y="3319272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BDD survit à un arrêt brutal</a:t>
            </a:r>
            <a:endParaRPr lang="en-US" sz="1100" dirty="0"/>
          </a:p>
        </p:txBody>
      </p:sp>
      <p:sp>
        <p:nvSpPr>
          <p:cNvPr id="29" name="Shape 24"/>
          <p:cNvSpPr/>
          <p:nvPr/>
        </p:nvSpPr>
        <p:spPr>
          <a:xfrm>
            <a:off x="777240" y="3749040"/>
            <a:ext cx="3566160" cy="594360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0" name="Text 25"/>
          <p:cNvSpPr/>
          <p:nvPr/>
        </p:nvSpPr>
        <p:spPr>
          <a:xfrm>
            <a:off x="914400" y="374904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Reboot ~20s  |  MySQL actif  |  5/5 records intacts</a:t>
            </a:r>
            <a:endParaRPr lang="en-US" sz="1000" dirty="0"/>
          </a:p>
        </p:txBody>
      </p:sp>
      <p:sp>
        <p:nvSpPr>
          <p:cNvPr id="31" name="Shape 26"/>
          <p:cNvSpPr/>
          <p:nvPr/>
        </p:nvSpPr>
        <p:spPr>
          <a:xfrm>
            <a:off x="4754880" y="2880360"/>
            <a:ext cx="3840480" cy="16459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32" name="Shape 27"/>
          <p:cNvSpPr/>
          <p:nvPr/>
        </p:nvSpPr>
        <p:spPr>
          <a:xfrm>
            <a:off x="4754880" y="2880360"/>
            <a:ext cx="3840480" cy="54864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3" name="Shape 28"/>
          <p:cNvSpPr/>
          <p:nvPr/>
        </p:nvSpPr>
        <p:spPr>
          <a:xfrm>
            <a:off x="7680960" y="3017520"/>
            <a:ext cx="731520" cy="32004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4" name="Text 29"/>
          <p:cNvSpPr/>
          <p:nvPr/>
        </p:nvSpPr>
        <p:spPr>
          <a:xfrm>
            <a:off x="7680960" y="301752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</a:t>
            </a:r>
            <a:endParaRPr lang="en-US" sz="1100" dirty="0"/>
          </a:p>
        </p:txBody>
      </p:sp>
      <p:pic>
        <p:nvPicPr>
          <p:cNvPr id="3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063240"/>
            <a:ext cx="365760" cy="365760"/>
          </a:xfrm>
          <a:prstGeom prst="rect">
            <a:avLst/>
          </a:prstGeom>
        </p:spPr>
      </p:pic>
      <p:sp>
        <p:nvSpPr>
          <p:cNvPr id="36" name="Text 30"/>
          <p:cNvSpPr/>
          <p:nvPr/>
        </p:nvSpPr>
        <p:spPr>
          <a:xfrm>
            <a:off x="5394960" y="304495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B2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Tunnel Azure</a:t>
            </a:r>
            <a:endParaRPr lang="en-US" sz="1500" dirty="0"/>
          </a:p>
        </p:txBody>
      </p:sp>
      <p:sp>
        <p:nvSpPr>
          <p:cNvPr id="37" name="Text 31"/>
          <p:cNvSpPr/>
          <p:nvPr/>
        </p:nvSpPr>
        <p:spPr>
          <a:xfrm>
            <a:off x="5394960" y="3319272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Communication siège ↔ Azure</a:t>
            </a:r>
            <a:endParaRPr lang="en-US" sz="1100" dirty="0"/>
          </a:p>
        </p:txBody>
      </p:sp>
      <p:sp>
        <p:nvSpPr>
          <p:cNvPr id="38" name="Shape 32"/>
          <p:cNvSpPr/>
          <p:nvPr/>
        </p:nvSpPr>
        <p:spPr>
          <a:xfrm>
            <a:off x="4892040" y="3749040"/>
            <a:ext cx="3566160" cy="594360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9" name="Text 33"/>
          <p:cNvSpPr/>
          <p:nvPr/>
        </p:nvSpPr>
        <p:spPr>
          <a:xfrm>
            <a:off x="5029200" y="374904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Ping &lt; 1ms  |  DNS cross-site  |  Réplication AD OK</a:t>
            </a:r>
            <a:endParaRPr lang="en-US" sz="1000" dirty="0"/>
          </a:p>
        </p:txBody>
      </p:sp>
      <p:sp>
        <p:nvSpPr>
          <p:cNvPr id="40" name="Slide Number Placeholder 39">
            <a:extLst>
              <a:ext uri="{FF2B5EF4-FFF2-40B4-BE49-F238E27FC236}">
                <a16:creationId xmlns:a16="http://schemas.microsoft.com/office/drawing/2014/main" id="{D3B0EC6A-40D6-25A3-C723-481C8E4D5AB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945FB95-144E-49FD-B7E5-5AC832B9F648}" type="slidenum">
              <a:rPr lang="fr-FR" smtClean="0"/>
              <a:t>9</a:t>
            </a:fld>
            <a:endParaRPr lang="fr-F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fr-FR" noProof="1"/>
          </a:p>
        </p:txBody>
      </p:sp>
      <p:sp>
        <p:nvSpPr>
          <p:cNvPr id="3" name="Text 1"/>
          <p:cNvSpPr/>
          <p:nvPr/>
        </p:nvSpPr>
        <p:spPr>
          <a:xfrm>
            <a:off x="640080" y="2286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3000" b="1" noProof="1">
                <a:solidFill>
                  <a:srgbClr val="0F1B2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Stratégie de migration</a:t>
            </a:r>
            <a:endParaRPr lang="fr-FR" sz="3000" noProof="1"/>
          </a:p>
        </p:txBody>
      </p:sp>
      <p:sp>
        <p:nvSpPr>
          <p:cNvPr id="4" name="Text 2"/>
          <p:cNvSpPr/>
          <p:nvPr/>
        </p:nvSpPr>
        <p:spPr>
          <a:xfrm>
            <a:off x="640080" y="68580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200" i="1" noProof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phases sur 6 semaines - migrations nocturnes - rollback à chaque étape</a:t>
            </a:r>
            <a:endParaRPr lang="fr-FR" sz="1200" noProof="1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416052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 noProof="1"/>
          </a:p>
        </p:txBody>
      </p:sp>
      <p:sp>
        <p:nvSpPr>
          <p:cNvPr id="6" name="Shape 4"/>
          <p:cNvSpPr/>
          <p:nvPr/>
        </p:nvSpPr>
        <p:spPr>
          <a:xfrm>
            <a:off x="365760" y="1097280"/>
            <a:ext cx="45720" cy="914400"/>
          </a:xfrm>
          <a:prstGeom prst="rect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fr-FR" noProof="1"/>
          </a:p>
        </p:txBody>
      </p:sp>
      <p:sp>
        <p:nvSpPr>
          <p:cNvPr id="7" name="Shape 5"/>
          <p:cNvSpPr/>
          <p:nvPr/>
        </p:nvSpPr>
        <p:spPr>
          <a:xfrm>
            <a:off x="530352" y="1207008"/>
            <a:ext cx="502920" cy="320040"/>
          </a:xfrm>
          <a:prstGeom prst="rect">
            <a:avLst/>
          </a:prstGeom>
          <a:solidFill>
            <a:srgbClr val="1A2744"/>
          </a:solidFill>
          <a:ln/>
        </p:spPr>
        <p:txBody>
          <a:bodyPr/>
          <a:lstStyle/>
          <a:p>
            <a:endParaRPr lang="fr-FR" noProof="1"/>
          </a:p>
        </p:txBody>
      </p:sp>
      <p:sp>
        <p:nvSpPr>
          <p:cNvPr id="8" name="Text 6"/>
          <p:cNvSpPr/>
          <p:nvPr/>
        </p:nvSpPr>
        <p:spPr>
          <a:xfrm>
            <a:off x="530352" y="1207008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FR" sz="1200" b="1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</a:t>
            </a:r>
            <a:endParaRPr lang="fr-FR" sz="1200" noProof="1"/>
          </a:p>
        </p:txBody>
      </p:sp>
      <p:sp>
        <p:nvSpPr>
          <p:cNvPr id="9" name="Text 7"/>
          <p:cNvSpPr/>
          <p:nvPr/>
        </p:nvSpPr>
        <p:spPr>
          <a:xfrm>
            <a:off x="1143000" y="1152144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300" b="1" noProof="1">
                <a:solidFill>
                  <a:srgbClr val="0F1B2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Pare-feu</a:t>
            </a:r>
            <a:endParaRPr lang="fr-FR" sz="1300" noProof="1"/>
          </a:p>
        </p:txBody>
      </p:sp>
      <p:sp>
        <p:nvSpPr>
          <p:cNvPr id="10" name="Text 8"/>
          <p:cNvSpPr/>
          <p:nvPr/>
        </p:nvSpPr>
        <p:spPr>
          <a:xfrm>
            <a:off x="1143000" y="137160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900" noProof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Remplacement DrayTek/80D → FortiGate</a:t>
            </a:r>
            <a:endParaRPr lang="fr-FR" sz="900" noProof="1"/>
          </a:p>
        </p:txBody>
      </p:sp>
      <p:sp>
        <p:nvSpPr>
          <p:cNvPr id="11" name="Shape 9"/>
          <p:cNvSpPr/>
          <p:nvPr/>
        </p:nvSpPr>
        <p:spPr>
          <a:xfrm>
            <a:off x="3383280" y="1170432"/>
            <a:ext cx="1005840" cy="274320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fr-FR" noProof="1"/>
          </a:p>
        </p:txBody>
      </p:sp>
      <p:sp>
        <p:nvSpPr>
          <p:cNvPr id="12" name="Text 10"/>
          <p:cNvSpPr/>
          <p:nvPr/>
        </p:nvSpPr>
        <p:spPr>
          <a:xfrm>
            <a:off x="3383280" y="1170432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FR" sz="750" noProof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nuits (S1-S2)</a:t>
            </a:r>
            <a:endParaRPr lang="fr-FR" sz="750" noProof="1"/>
          </a:p>
        </p:txBody>
      </p:sp>
      <p:sp>
        <p:nvSpPr>
          <p:cNvPr id="13" name="Text 11"/>
          <p:cNvSpPr/>
          <p:nvPr/>
        </p:nvSpPr>
        <p:spPr>
          <a:xfrm>
            <a:off x="1143000" y="1627632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800" i="1" noProof="1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↩ Rebrancher ancien équipement (~15 min)</a:t>
            </a:r>
            <a:endParaRPr lang="fr-FR" sz="800" noProof="1"/>
          </a:p>
        </p:txBody>
      </p:sp>
      <p:sp>
        <p:nvSpPr>
          <p:cNvPr id="14" name="Shape 12"/>
          <p:cNvSpPr/>
          <p:nvPr/>
        </p:nvSpPr>
        <p:spPr>
          <a:xfrm>
            <a:off x="4754880" y="1097280"/>
            <a:ext cx="416052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 noProof="1"/>
          </a:p>
        </p:txBody>
      </p:sp>
      <p:sp>
        <p:nvSpPr>
          <p:cNvPr id="15" name="Shape 13"/>
          <p:cNvSpPr/>
          <p:nvPr/>
        </p:nvSpPr>
        <p:spPr>
          <a:xfrm>
            <a:off x="4754880" y="1097280"/>
            <a:ext cx="45720" cy="91440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fr-FR" noProof="1"/>
          </a:p>
        </p:txBody>
      </p:sp>
      <p:sp>
        <p:nvSpPr>
          <p:cNvPr id="16" name="Shape 14"/>
          <p:cNvSpPr/>
          <p:nvPr/>
        </p:nvSpPr>
        <p:spPr>
          <a:xfrm>
            <a:off x="4919472" y="1207008"/>
            <a:ext cx="502920" cy="320040"/>
          </a:xfrm>
          <a:prstGeom prst="rect">
            <a:avLst/>
          </a:prstGeom>
          <a:solidFill>
            <a:srgbClr val="1A2744"/>
          </a:solidFill>
          <a:ln/>
        </p:spPr>
        <p:txBody>
          <a:bodyPr/>
          <a:lstStyle/>
          <a:p>
            <a:endParaRPr lang="fr-FR" noProof="1"/>
          </a:p>
        </p:txBody>
      </p:sp>
      <p:sp>
        <p:nvSpPr>
          <p:cNvPr id="17" name="Text 15"/>
          <p:cNvSpPr/>
          <p:nvPr/>
        </p:nvSpPr>
        <p:spPr>
          <a:xfrm>
            <a:off x="4919472" y="1207008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FR" sz="1200" b="1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M2</a:t>
            </a:r>
            <a:endParaRPr lang="fr-FR" sz="1200" noProof="1"/>
          </a:p>
        </p:txBody>
      </p:sp>
      <p:sp>
        <p:nvSpPr>
          <p:cNvPr id="18" name="Text 16"/>
          <p:cNvSpPr/>
          <p:nvPr/>
        </p:nvSpPr>
        <p:spPr>
          <a:xfrm>
            <a:off x="5532120" y="1152144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300" b="1" noProof="1">
                <a:solidFill>
                  <a:srgbClr val="0F1B2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Cluster</a:t>
            </a:r>
            <a:endParaRPr lang="fr-FR" sz="1300" noProof="1"/>
          </a:p>
        </p:txBody>
      </p:sp>
      <p:sp>
        <p:nvSpPr>
          <p:cNvPr id="19" name="Text 17"/>
          <p:cNvSpPr/>
          <p:nvPr/>
        </p:nvSpPr>
        <p:spPr>
          <a:xfrm>
            <a:off x="5532120" y="137160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900" noProof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Installation 2x R650xs + SAN ME5012</a:t>
            </a:r>
            <a:endParaRPr lang="fr-FR" sz="900" noProof="1"/>
          </a:p>
        </p:txBody>
      </p:sp>
      <p:sp>
        <p:nvSpPr>
          <p:cNvPr id="20" name="Shape 18"/>
          <p:cNvSpPr/>
          <p:nvPr/>
        </p:nvSpPr>
        <p:spPr>
          <a:xfrm>
            <a:off x="7772400" y="1170432"/>
            <a:ext cx="1005840" cy="274320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fr-FR" noProof="1"/>
          </a:p>
        </p:txBody>
      </p:sp>
      <p:sp>
        <p:nvSpPr>
          <p:cNvPr id="21" name="Text 19"/>
          <p:cNvSpPr/>
          <p:nvPr/>
        </p:nvSpPr>
        <p:spPr>
          <a:xfrm>
            <a:off x="7772400" y="1170432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FR" sz="750" noProof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WE + 2j (S2-S3)</a:t>
            </a:r>
            <a:endParaRPr lang="fr-FR" sz="750" noProof="1"/>
          </a:p>
        </p:txBody>
      </p:sp>
      <p:sp>
        <p:nvSpPr>
          <p:cNvPr id="22" name="Text 20"/>
          <p:cNvSpPr/>
          <p:nvPr/>
        </p:nvSpPr>
        <p:spPr>
          <a:xfrm>
            <a:off x="5532120" y="1627632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800" i="1" noProof="1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↩ R630 reste actif en parallèle</a:t>
            </a:r>
            <a:endParaRPr lang="fr-FR" sz="800" noProof="1"/>
          </a:p>
        </p:txBody>
      </p:sp>
      <p:sp>
        <p:nvSpPr>
          <p:cNvPr id="23" name="Shape 21"/>
          <p:cNvSpPr/>
          <p:nvPr/>
        </p:nvSpPr>
        <p:spPr>
          <a:xfrm>
            <a:off x="365760" y="2121408"/>
            <a:ext cx="416052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 noProof="1"/>
          </a:p>
        </p:txBody>
      </p:sp>
      <p:sp>
        <p:nvSpPr>
          <p:cNvPr id="24" name="Shape 22"/>
          <p:cNvSpPr/>
          <p:nvPr/>
        </p:nvSpPr>
        <p:spPr>
          <a:xfrm>
            <a:off x="365760" y="2121408"/>
            <a:ext cx="45720" cy="914400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fr-FR" noProof="1"/>
          </a:p>
        </p:txBody>
      </p:sp>
      <p:sp>
        <p:nvSpPr>
          <p:cNvPr id="25" name="Shape 23"/>
          <p:cNvSpPr/>
          <p:nvPr/>
        </p:nvSpPr>
        <p:spPr>
          <a:xfrm>
            <a:off x="530352" y="2231136"/>
            <a:ext cx="502920" cy="320040"/>
          </a:xfrm>
          <a:prstGeom prst="rect">
            <a:avLst/>
          </a:prstGeom>
          <a:solidFill>
            <a:srgbClr val="1A2744"/>
          </a:solidFill>
          <a:ln/>
        </p:spPr>
        <p:txBody>
          <a:bodyPr/>
          <a:lstStyle/>
          <a:p>
            <a:endParaRPr lang="fr-FR" noProof="1"/>
          </a:p>
        </p:txBody>
      </p:sp>
      <p:sp>
        <p:nvSpPr>
          <p:cNvPr id="26" name="Text 24"/>
          <p:cNvSpPr/>
          <p:nvPr/>
        </p:nvSpPr>
        <p:spPr>
          <a:xfrm>
            <a:off x="530352" y="2231136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FR" sz="1200" b="1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M3</a:t>
            </a:r>
            <a:endParaRPr lang="fr-FR" sz="1200" noProof="1"/>
          </a:p>
        </p:txBody>
      </p:sp>
      <p:sp>
        <p:nvSpPr>
          <p:cNvPr id="27" name="Text 25"/>
          <p:cNvSpPr/>
          <p:nvPr/>
        </p:nvSpPr>
        <p:spPr>
          <a:xfrm>
            <a:off x="1143000" y="2176272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300" b="1" noProof="1">
                <a:solidFill>
                  <a:srgbClr val="0F1B2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VMs</a:t>
            </a:r>
            <a:endParaRPr lang="fr-FR" sz="1300" noProof="1"/>
          </a:p>
        </p:txBody>
      </p:sp>
      <p:sp>
        <p:nvSpPr>
          <p:cNvPr id="28" name="Text 26"/>
          <p:cNvSpPr/>
          <p:nvPr/>
        </p:nvSpPr>
        <p:spPr>
          <a:xfrm>
            <a:off x="1143000" y="23957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900" noProof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Migration ~20 VMs du R630 → cluster</a:t>
            </a:r>
            <a:endParaRPr lang="fr-FR" sz="900" noProof="1"/>
          </a:p>
        </p:txBody>
      </p:sp>
      <p:sp>
        <p:nvSpPr>
          <p:cNvPr id="29" name="Shape 27"/>
          <p:cNvSpPr/>
          <p:nvPr/>
        </p:nvSpPr>
        <p:spPr>
          <a:xfrm>
            <a:off x="3383280" y="2194560"/>
            <a:ext cx="1005840" cy="274320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fr-FR" noProof="1"/>
          </a:p>
        </p:txBody>
      </p:sp>
      <p:sp>
        <p:nvSpPr>
          <p:cNvPr id="30" name="Text 28"/>
          <p:cNvSpPr/>
          <p:nvPr/>
        </p:nvSpPr>
        <p:spPr>
          <a:xfrm>
            <a:off x="3383280" y="219456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FR" sz="750" noProof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nuits WE (S3)</a:t>
            </a:r>
            <a:endParaRPr lang="fr-FR" sz="750" noProof="1"/>
          </a:p>
        </p:txBody>
      </p:sp>
      <p:sp>
        <p:nvSpPr>
          <p:cNvPr id="31" name="Text 29"/>
          <p:cNvSpPr/>
          <p:nvPr/>
        </p:nvSpPr>
        <p:spPr>
          <a:xfrm>
            <a:off x="1143000" y="265176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800" i="1" noProof="1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↩ Restaurer snapshots sur R630 (~30 min)</a:t>
            </a:r>
            <a:endParaRPr lang="fr-FR" sz="800" noProof="1"/>
          </a:p>
        </p:txBody>
      </p:sp>
      <p:sp>
        <p:nvSpPr>
          <p:cNvPr id="32" name="Shape 30"/>
          <p:cNvSpPr/>
          <p:nvPr/>
        </p:nvSpPr>
        <p:spPr>
          <a:xfrm>
            <a:off x="4754880" y="2121408"/>
            <a:ext cx="416052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 noProof="1"/>
          </a:p>
        </p:txBody>
      </p:sp>
      <p:sp>
        <p:nvSpPr>
          <p:cNvPr id="33" name="Shape 31"/>
          <p:cNvSpPr/>
          <p:nvPr/>
        </p:nvSpPr>
        <p:spPr>
          <a:xfrm>
            <a:off x="4754880" y="2121408"/>
            <a:ext cx="45720" cy="914400"/>
          </a:xfrm>
          <a:prstGeom prst="rect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fr-FR" noProof="1"/>
          </a:p>
        </p:txBody>
      </p:sp>
      <p:sp>
        <p:nvSpPr>
          <p:cNvPr id="34" name="Shape 32"/>
          <p:cNvSpPr/>
          <p:nvPr/>
        </p:nvSpPr>
        <p:spPr>
          <a:xfrm>
            <a:off x="4919472" y="2231136"/>
            <a:ext cx="502920" cy="320040"/>
          </a:xfrm>
          <a:prstGeom prst="rect">
            <a:avLst/>
          </a:prstGeom>
          <a:solidFill>
            <a:srgbClr val="1A2744"/>
          </a:solidFill>
          <a:ln/>
        </p:spPr>
        <p:txBody>
          <a:bodyPr/>
          <a:lstStyle/>
          <a:p>
            <a:endParaRPr lang="fr-FR" noProof="1"/>
          </a:p>
        </p:txBody>
      </p:sp>
      <p:sp>
        <p:nvSpPr>
          <p:cNvPr id="35" name="Text 33"/>
          <p:cNvSpPr/>
          <p:nvPr/>
        </p:nvSpPr>
        <p:spPr>
          <a:xfrm>
            <a:off x="4919472" y="2231136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FR" sz="1200" b="1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M4</a:t>
            </a:r>
            <a:endParaRPr lang="fr-FR" sz="1200" noProof="1"/>
          </a:p>
        </p:txBody>
      </p:sp>
      <p:sp>
        <p:nvSpPr>
          <p:cNvPr id="36" name="Text 34"/>
          <p:cNvSpPr/>
          <p:nvPr/>
        </p:nvSpPr>
        <p:spPr>
          <a:xfrm>
            <a:off x="5532120" y="2176272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300" b="1" noProof="1">
                <a:solidFill>
                  <a:srgbClr val="0F1B2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Azure</a:t>
            </a:r>
            <a:endParaRPr lang="fr-FR" sz="1300" noProof="1"/>
          </a:p>
        </p:txBody>
      </p:sp>
      <p:sp>
        <p:nvSpPr>
          <p:cNvPr id="37" name="Text 35"/>
          <p:cNvSpPr/>
          <p:nvPr/>
        </p:nvSpPr>
        <p:spPr>
          <a:xfrm>
            <a:off x="5532120" y="23957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900" noProof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VPN site-à-site + DC répliqué + ASR</a:t>
            </a:r>
            <a:endParaRPr lang="fr-FR" sz="900" noProof="1"/>
          </a:p>
        </p:txBody>
      </p:sp>
      <p:sp>
        <p:nvSpPr>
          <p:cNvPr id="38" name="Shape 36"/>
          <p:cNvSpPr/>
          <p:nvPr/>
        </p:nvSpPr>
        <p:spPr>
          <a:xfrm>
            <a:off x="7772400" y="2194560"/>
            <a:ext cx="1005840" cy="274320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fr-FR" noProof="1"/>
          </a:p>
        </p:txBody>
      </p:sp>
      <p:sp>
        <p:nvSpPr>
          <p:cNvPr id="39" name="Text 37"/>
          <p:cNvSpPr/>
          <p:nvPr/>
        </p:nvSpPr>
        <p:spPr>
          <a:xfrm>
            <a:off x="7772400" y="219456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FR" sz="750" noProof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jours (S4)</a:t>
            </a:r>
            <a:endParaRPr lang="fr-FR" sz="750" noProof="1"/>
          </a:p>
        </p:txBody>
      </p:sp>
      <p:sp>
        <p:nvSpPr>
          <p:cNvPr id="40" name="Text 38"/>
          <p:cNvSpPr/>
          <p:nvPr/>
        </p:nvSpPr>
        <p:spPr>
          <a:xfrm>
            <a:off x="5532120" y="265176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800" i="1" noProof="1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↩ Couper tunnel, supprimer ressources (~5 min)</a:t>
            </a:r>
            <a:endParaRPr lang="fr-FR" sz="800" noProof="1"/>
          </a:p>
        </p:txBody>
      </p:sp>
      <p:sp>
        <p:nvSpPr>
          <p:cNvPr id="41" name="Shape 39"/>
          <p:cNvSpPr/>
          <p:nvPr/>
        </p:nvSpPr>
        <p:spPr>
          <a:xfrm>
            <a:off x="365760" y="3145536"/>
            <a:ext cx="416052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 noProof="1"/>
          </a:p>
        </p:txBody>
      </p:sp>
      <p:sp>
        <p:nvSpPr>
          <p:cNvPr id="42" name="Shape 40"/>
          <p:cNvSpPr/>
          <p:nvPr/>
        </p:nvSpPr>
        <p:spPr>
          <a:xfrm>
            <a:off x="365760" y="3145536"/>
            <a:ext cx="45720" cy="914400"/>
          </a:xfrm>
          <a:prstGeom prst="rect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fr-FR" noProof="1"/>
          </a:p>
        </p:txBody>
      </p:sp>
      <p:sp>
        <p:nvSpPr>
          <p:cNvPr id="43" name="Shape 41"/>
          <p:cNvSpPr/>
          <p:nvPr/>
        </p:nvSpPr>
        <p:spPr>
          <a:xfrm>
            <a:off x="530352" y="3255264"/>
            <a:ext cx="502920" cy="320040"/>
          </a:xfrm>
          <a:prstGeom prst="rect">
            <a:avLst/>
          </a:prstGeom>
          <a:solidFill>
            <a:srgbClr val="1A2744"/>
          </a:solidFill>
          <a:ln/>
        </p:spPr>
        <p:txBody>
          <a:bodyPr/>
          <a:lstStyle/>
          <a:p>
            <a:endParaRPr lang="fr-FR" noProof="1"/>
          </a:p>
        </p:txBody>
      </p:sp>
      <p:sp>
        <p:nvSpPr>
          <p:cNvPr id="44" name="Text 42"/>
          <p:cNvSpPr/>
          <p:nvPr/>
        </p:nvSpPr>
        <p:spPr>
          <a:xfrm>
            <a:off x="530352" y="3255264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FR" sz="1200" b="1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M5</a:t>
            </a:r>
            <a:endParaRPr lang="fr-FR" sz="1200" noProof="1"/>
          </a:p>
        </p:txBody>
      </p:sp>
      <p:sp>
        <p:nvSpPr>
          <p:cNvPr id="45" name="Text 43"/>
          <p:cNvSpPr/>
          <p:nvPr/>
        </p:nvSpPr>
        <p:spPr>
          <a:xfrm>
            <a:off x="1143000" y="320040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300" b="1" noProof="1">
                <a:solidFill>
                  <a:srgbClr val="0F1B2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QoS/VLAN</a:t>
            </a:r>
            <a:endParaRPr lang="fr-FR" sz="1300" noProof="1"/>
          </a:p>
        </p:txBody>
      </p:sp>
      <p:sp>
        <p:nvSpPr>
          <p:cNvPr id="46" name="Text 44"/>
          <p:cNvSpPr/>
          <p:nvPr/>
        </p:nvSpPr>
        <p:spPr>
          <a:xfrm>
            <a:off x="1143000" y="341985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900" noProof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Segmentation 4 VLAN + DSCP + QoS VoIP</a:t>
            </a:r>
            <a:endParaRPr lang="fr-FR" sz="900" noProof="1"/>
          </a:p>
        </p:txBody>
      </p:sp>
      <p:sp>
        <p:nvSpPr>
          <p:cNvPr id="47" name="Shape 45"/>
          <p:cNvSpPr/>
          <p:nvPr/>
        </p:nvSpPr>
        <p:spPr>
          <a:xfrm>
            <a:off x="3383280" y="3218688"/>
            <a:ext cx="1005840" cy="274320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fr-FR" noProof="1"/>
          </a:p>
        </p:txBody>
      </p:sp>
      <p:sp>
        <p:nvSpPr>
          <p:cNvPr id="48" name="Text 46"/>
          <p:cNvSpPr/>
          <p:nvPr/>
        </p:nvSpPr>
        <p:spPr>
          <a:xfrm>
            <a:off x="3383280" y="3218688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FR" sz="750" noProof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nuits (S5)</a:t>
            </a:r>
            <a:endParaRPr lang="fr-FR" sz="750" noProof="1"/>
          </a:p>
        </p:txBody>
      </p:sp>
      <p:sp>
        <p:nvSpPr>
          <p:cNvPr id="49" name="Text 47"/>
          <p:cNvSpPr/>
          <p:nvPr/>
        </p:nvSpPr>
        <p:spPr>
          <a:xfrm>
            <a:off x="1143000" y="3675888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800" i="1" noProof="1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↩ Désactiver VLAN, retour flat (~20 min)</a:t>
            </a:r>
            <a:endParaRPr lang="fr-FR" sz="800" noProof="1"/>
          </a:p>
        </p:txBody>
      </p:sp>
      <p:sp>
        <p:nvSpPr>
          <p:cNvPr id="50" name="Shape 48"/>
          <p:cNvSpPr/>
          <p:nvPr/>
        </p:nvSpPr>
        <p:spPr>
          <a:xfrm>
            <a:off x="4754880" y="3145536"/>
            <a:ext cx="416052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 noProof="1"/>
          </a:p>
        </p:txBody>
      </p:sp>
      <p:sp>
        <p:nvSpPr>
          <p:cNvPr id="51" name="Shape 49"/>
          <p:cNvSpPr/>
          <p:nvPr/>
        </p:nvSpPr>
        <p:spPr>
          <a:xfrm>
            <a:off x="4754880" y="3145536"/>
            <a:ext cx="45720" cy="91440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fr-FR" noProof="1"/>
          </a:p>
        </p:txBody>
      </p:sp>
      <p:sp>
        <p:nvSpPr>
          <p:cNvPr id="52" name="Shape 50"/>
          <p:cNvSpPr/>
          <p:nvPr/>
        </p:nvSpPr>
        <p:spPr>
          <a:xfrm>
            <a:off x="4919472" y="3255264"/>
            <a:ext cx="502920" cy="320040"/>
          </a:xfrm>
          <a:prstGeom prst="rect">
            <a:avLst/>
          </a:prstGeom>
          <a:solidFill>
            <a:srgbClr val="1A2744"/>
          </a:solidFill>
          <a:ln/>
        </p:spPr>
        <p:txBody>
          <a:bodyPr/>
          <a:lstStyle/>
          <a:p>
            <a:endParaRPr lang="fr-FR" noProof="1"/>
          </a:p>
        </p:txBody>
      </p:sp>
      <p:sp>
        <p:nvSpPr>
          <p:cNvPr id="53" name="Text 51"/>
          <p:cNvSpPr/>
          <p:nvPr/>
        </p:nvSpPr>
        <p:spPr>
          <a:xfrm>
            <a:off x="4919472" y="3255264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FR" sz="1200" b="1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M6</a:t>
            </a:r>
            <a:endParaRPr lang="fr-FR" sz="1200" noProof="1"/>
          </a:p>
        </p:txBody>
      </p:sp>
      <p:sp>
        <p:nvSpPr>
          <p:cNvPr id="54" name="Text 52"/>
          <p:cNvSpPr/>
          <p:nvPr/>
        </p:nvSpPr>
        <p:spPr>
          <a:xfrm>
            <a:off x="5532120" y="320040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300" b="1" noProof="1">
                <a:solidFill>
                  <a:srgbClr val="0F1B2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Validation</a:t>
            </a:r>
            <a:endParaRPr lang="fr-FR" sz="1300" noProof="1"/>
          </a:p>
        </p:txBody>
      </p:sp>
      <p:sp>
        <p:nvSpPr>
          <p:cNvPr id="55" name="Text 53"/>
          <p:cNvSpPr/>
          <p:nvPr/>
        </p:nvSpPr>
        <p:spPr>
          <a:xfrm>
            <a:off x="5532120" y="341985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900" noProof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bout en bout + test PRA complet</a:t>
            </a:r>
            <a:endParaRPr lang="fr-FR" sz="900" noProof="1"/>
          </a:p>
        </p:txBody>
      </p:sp>
      <p:sp>
        <p:nvSpPr>
          <p:cNvPr id="56" name="Shape 54"/>
          <p:cNvSpPr/>
          <p:nvPr/>
        </p:nvSpPr>
        <p:spPr>
          <a:xfrm>
            <a:off x="7772400" y="3218688"/>
            <a:ext cx="1005840" cy="274320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fr-FR" noProof="1"/>
          </a:p>
        </p:txBody>
      </p:sp>
      <p:sp>
        <p:nvSpPr>
          <p:cNvPr id="57" name="Text 55"/>
          <p:cNvSpPr/>
          <p:nvPr/>
        </p:nvSpPr>
        <p:spPr>
          <a:xfrm>
            <a:off x="7772400" y="3218688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FR" sz="750" noProof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WE (S6)</a:t>
            </a:r>
            <a:endParaRPr lang="fr-FR" sz="750" noProof="1"/>
          </a:p>
        </p:txBody>
      </p:sp>
      <p:sp>
        <p:nvSpPr>
          <p:cNvPr id="58" name="Text 56"/>
          <p:cNvSpPr/>
          <p:nvPr/>
        </p:nvSpPr>
        <p:spPr>
          <a:xfrm>
            <a:off x="5532120" y="3675888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800" i="1" noProof="1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↩ Non applicable (tests uniquement)</a:t>
            </a:r>
            <a:endParaRPr lang="fr-FR" sz="800" noProof="1"/>
          </a:p>
        </p:txBody>
      </p:sp>
      <p:sp>
        <p:nvSpPr>
          <p:cNvPr id="59" name="Shape 57"/>
          <p:cNvSpPr/>
          <p:nvPr/>
        </p:nvSpPr>
        <p:spPr>
          <a:xfrm>
            <a:off x="365760" y="3931920"/>
            <a:ext cx="8412480" cy="274320"/>
          </a:xfrm>
          <a:prstGeom prst="rect">
            <a:avLst/>
          </a:prstGeom>
          <a:solidFill>
            <a:srgbClr val="1A2744"/>
          </a:solidFill>
          <a:ln/>
        </p:spPr>
        <p:txBody>
          <a:bodyPr/>
          <a:lstStyle/>
          <a:p>
            <a:endParaRPr lang="fr-FR" noProof="1"/>
          </a:p>
        </p:txBody>
      </p:sp>
      <p:sp>
        <p:nvSpPr>
          <p:cNvPr id="60" name="Text 58"/>
          <p:cNvSpPr/>
          <p:nvPr/>
        </p:nvSpPr>
        <p:spPr>
          <a:xfrm>
            <a:off x="365760" y="393192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FR" sz="1000" b="1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 : 6 semaines — interventions nocturnes et week-ends uniquement</a:t>
            </a:r>
            <a:endParaRPr lang="fr-FR" sz="1000" noProof="1"/>
          </a:p>
        </p:txBody>
      </p:sp>
      <p:sp>
        <p:nvSpPr>
          <p:cNvPr id="61" name="Shape 59"/>
          <p:cNvSpPr/>
          <p:nvPr/>
        </p:nvSpPr>
        <p:spPr>
          <a:xfrm>
            <a:off x="914400" y="4206240"/>
            <a:ext cx="1280160" cy="173464"/>
          </a:xfrm>
          <a:prstGeom prst="rect">
            <a:avLst/>
          </a:prstGeom>
          <a:solidFill>
            <a:srgbClr val="F0F4F8"/>
          </a:solidFill>
          <a:ln w="635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fr-FR" noProof="1"/>
          </a:p>
        </p:txBody>
      </p:sp>
      <p:sp>
        <p:nvSpPr>
          <p:cNvPr id="62" name="Text 60"/>
          <p:cNvSpPr/>
          <p:nvPr/>
        </p:nvSpPr>
        <p:spPr>
          <a:xfrm>
            <a:off x="914400" y="4206240"/>
            <a:ext cx="1280160" cy="17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FR" sz="800" b="1" noProof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</a:t>
            </a:r>
            <a:endParaRPr lang="fr-FR" sz="800" noProof="1"/>
          </a:p>
        </p:txBody>
      </p:sp>
      <p:sp>
        <p:nvSpPr>
          <p:cNvPr id="63" name="Shape 61"/>
          <p:cNvSpPr/>
          <p:nvPr/>
        </p:nvSpPr>
        <p:spPr>
          <a:xfrm>
            <a:off x="2194560" y="4206240"/>
            <a:ext cx="1280160" cy="173464"/>
          </a:xfrm>
          <a:prstGeom prst="rect">
            <a:avLst/>
          </a:prstGeom>
          <a:solidFill>
            <a:srgbClr val="F0F4F8"/>
          </a:solidFill>
          <a:ln w="635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fr-FR" noProof="1"/>
          </a:p>
        </p:txBody>
      </p:sp>
      <p:sp>
        <p:nvSpPr>
          <p:cNvPr id="64" name="Text 62"/>
          <p:cNvSpPr/>
          <p:nvPr/>
        </p:nvSpPr>
        <p:spPr>
          <a:xfrm>
            <a:off x="2194560" y="4206240"/>
            <a:ext cx="1280160" cy="17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FR" sz="800" b="1" noProof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</a:t>
            </a:r>
            <a:endParaRPr lang="fr-FR" sz="800" noProof="1"/>
          </a:p>
        </p:txBody>
      </p:sp>
      <p:sp>
        <p:nvSpPr>
          <p:cNvPr id="65" name="Shape 63"/>
          <p:cNvSpPr/>
          <p:nvPr/>
        </p:nvSpPr>
        <p:spPr>
          <a:xfrm>
            <a:off x="3474720" y="4206240"/>
            <a:ext cx="1280160" cy="173464"/>
          </a:xfrm>
          <a:prstGeom prst="rect">
            <a:avLst/>
          </a:prstGeom>
          <a:solidFill>
            <a:srgbClr val="F0F4F8"/>
          </a:solidFill>
          <a:ln w="635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fr-FR" noProof="1"/>
          </a:p>
        </p:txBody>
      </p:sp>
      <p:sp>
        <p:nvSpPr>
          <p:cNvPr id="66" name="Text 64"/>
          <p:cNvSpPr/>
          <p:nvPr/>
        </p:nvSpPr>
        <p:spPr>
          <a:xfrm>
            <a:off x="3474720" y="4206240"/>
            <a:ext cx="1280160" cy="17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FR" sz="800" b="1" noProof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</a:t>
            </a:r>
            <a:endParaRPr lang="fr-FR" sz="800" noProof="1"/>
          </a:p>
        </p:txBody>
      </p:sp>
      <p:sp>
        <p:nvSpPr>
          <p:cNvPr id="67" name="Shape 65"/>
          <p:cNvSpPr/>
          <p:nvPr/>
        </p:nvSpPr>
        <p:spPr>
          <a:xfrm>
            <a:off x="4754880" y="4206240"/>
            <a:ext cx="1280160" cy="173464"/>
          </a:xfrm>
          <a:prstGeom prst="rect">
            <a:avLst/>
          </a:prstGeom>
          <a:solidFill>
            <a:srgbClr val="F0F4F8"/>
          </a:solidFill>
          <a:ln w="635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fr-FR" noProof="1"/>
          </a:p>
        </p:txBody>
      </p:sp>
      <p:sp>
        <p:nvSpPr>
          <p:cNvPr id="68" name="Text 66"/>
          <p:cNvSpPr/>
          <p:nvPr/>
        </p:nvSpPr>
        <p:spPr>
          <a:xfrm>
            <a:off x="4754880" y="4206240"/>
            <a:ext cx="1280160" cy="17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FR" sz="800" b="1" noProof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S4</a:t>
            </a:r>
            <a:endParaRPr lang="fr-FR" sz="800" noProof="1"/>
          </a:p>
        </p:txBody>
      </p:sp>
      <p:sp>
        <p:nvSpPr>
          <p:cNvPr id="69" name="Shape 67"/>
          <p:cNvSpPr/>
          <p:nvPr/>
        </p:nvSpPr>
        <p:spPr>
          <a:xfrm>
            <a:off x="6035040" y="4206240"/>
            <a:ext cx="1280160" cy="173464"/>
          </a:xfrm>
          <a:prstGeom prst="rect">
            <a:avLst/>
          </a:prstGeom>
          <a:solidFill>
            <a:srgbClr val="F0F4F8"/>
          </a:solidFill>
          <a:ln w="635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fr-FR" noProof="1"/>
          </a:p>
        </p:txBody>
      </p:sp>
      <p:sp>
        <p:nvSpPr>
          <p:cNvPr id="70" name="Text 68"/>
          <p:cNvSpPr/>
          <p:nvPr/>
        </p:nvSpPr>
        <p:spPr>
          <a:xfrm>
            <a:off x="6035040" y="4206240"/>
            <a:ext cx="1280160" cy="17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FR" sz="800" b="1" noProof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S5</a:t>
            </a:r>
            <a:endParaRPr lang="fr-FR" sz="800" noProof="1"/>
          </a:p>
        </p:txBody>
      </p:sp>
      <p:sp>
        <p:nvSpPr>
          <p:cNvPr id="71" name="Shape 69"/>
          <p:cNvSpPr/>
          <p:nvPr/>
        </p:nvSpPr>
        <p:spPr>
          <a:xfrm>
            <a:off x="7315200" y="4206240"/>
            <a:ext cx="1280160" cy="173464"/>
          </a:xfrm>
          <a:prstGeom prst="rect">
            <a:avLst/>
          </a:prstGeom>
          <a:solidFill>
            <a:srgbClr val="F0F4F8"/>
          </a:solidFill>
          <a:ln w="635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fr-FR" noProof="1"/>
          </a:p>
        </p:txBody>
      </p:sp>
      <p:sp>
        <p:nvSpPr>
          <p:cNvPr id="72" name="Text 70"/>
          <p:cNvSpPr/>
          <p:nvPr/>
        </p:nvSpPr>
        <p:spPr>
          <a:xfrm>
            <a:off x="7315200" y="4206240"/>
            <a:ext cx="1280160" cy="17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FR" sz="800" b="1" noProof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S6</a:t>
            </a:r>
            <a:endParaRPr lang="fr-FR" sz="800" noProof="1"/>
          </a:p>
        </p:txBody>
      </p:sp>
      <p:sp>
        <p:nvSpPr>
          <p:cNvPr id="73" name="Shape 71"/>
          <p:cNvSpPr/>
          <p:nvPr/>
        </p:nvSpPr>
        <p:spPr>
          <a:xfrm>
            <a:off x="914400" y="4393556"/>
            <a:ext cx="2560320" cy="100584"/>
          </a:xfrm>
          <a:prstGeom prst="rect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fr-FR" noProof="1"/>
          </a:p>
        </p:txBody>
      </p:sp>
      <p:sp>
        <p:nvSpPr>
          <p:cNvPr id="74" name="Text 72"/>
          <p:cNvSpPr/>
          <p:nvPr/>
        </p:nvSpPr>
        <p:spPr>
          <a:xfrm>
            <a:off x="914400" y="4400482"/>
            <a:ext cx="2560320" cy="1005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FR" sz="600" b="1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</a:t>
            </a:r>
            <a:endParaRPr lang="fr-FR" sz="600" noProof="1"/>
          </a:p>
        </p:txBody>
      </p:sp>
      <p:sp>
        <p:nvSpPr>
          <p:cNvPr id="75" name="Shape 73"/>
          <p:cNvSpPr/>
          <p:nvPr/>
        </p:nvSpPr>
        <p:spPr>
          <a:xfrm>
            <a:off x="2834640" y="4507992"/>
            <a:ext cx="1920240" cy="100584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fr-FR" noProof="1"/>
          </a:p>
        </p:txBody>
      </p:sp>
      <p:sp>
        <p:nvSpPr>
          <p:cNvPr id="76" name="Text 74"/>
          <p:cNvSpPr/>
          <p:nvPr/>
        </p:nvSpPr>
        <p:spPr>
          <a:xfrm>
            <a:off x="2834640" y="4507992"/>
            <a:ext cx="1920240" cy="1005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FR" sz="600" b="1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M2</a:t>
            </a:r>
            <a:endParaRPr lang="fr-FR" sz="600" noProof="1"/>
          </a:p>
        </p:txBody>
      </p:sp>
      <p:sp>
        <p:nvSpPr>
          <p:cNvPr id="77" name="Shape 75"/>
          <p:cNvSpPr/>
          <p:nvPr/>
        </p:nvSpPr>
        <p:spPr>
          <a:xfrm>
            <a:off x="4114800" y="4636008"/>
            <a:ext cx="640080" cy="100584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fr-FR" noProof="1"/>
          </a:p>
        </p:txBody>
      </p:sp>
      <p:sp>
        <p:nvSpPr>
          <p:cNvPr id="78" name="Text 76"/>
          <p:cNvSpPr/>
          <p:nvPr/>
        </p:nvSpPr>
        <p:spPr>
          <a:xfrm>
            <a:off x="4114800" y="4636008"/>
            <a:ext cx="640080" cy="1005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FR" sz="600" b="1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M3</a:t>
            </a:r>
            <a:endParaRPr lang="fr-FR" sz="600" noProof="1"/>
          </a:p>
        </p:txBody>
      </p:sp>
      <p:sp>
        <p:nvSpPr>
          <p:cNvPr id="79" name="Shape 77"/>
          <p:cNvSpPr/>
          <p:nvPr/>
        </p:nvSpPr>
        <p:spPr>
          <a:xfrm>
            <a:off x="4754880" y="4764024"/>
            <a:ext cx="1280160" cy="100584"/>
          </a:xfrm>
          <a:prstGeom prst="rect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fr-FR" noProof="1"/>
          </a:p>
        </p:txBody>
      </p:sp>
      <p:sp>
        <p:nvSpPr>
          <p:cNvPr id="80" name="Text 78"/>
          <p:cNvSpPr/>
          <p:nvPr/>
        </p:nvSpPr>
        <p:spPr>
          <a:xfrm>
            <a:off x="4754880" y="4764024"/>
            <a:ext cx="1280160" cy="1005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FR" sz="600" b="1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M4</a:t>
            </a:r>
            <a:endParaRPr lang="fr-FR" sz="600" noProof="1"/>
          </a:p>
        </p:txBody>
      </p:sp>
      <p:sp>
        <p:nvSpPr>
          <p:cNvPr id="81" name="Shape 79"/>
          <p:cNvSpPr/>
          <p:nvPr/>
        </p:nvSpPr>
        <p:spPr>
          <a:xfrm>
            <a:off x="6035040" y="4892040"/>
            <a:ext cx="1280160" cy="100584"/>
          </a:xfrm>
          <a:prstGeom prst="rect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fr-FR" noProof="1"/>
          </a:p>
        </p:txBody>
      </p:sp>
      <p:sp>
        <p:nvSpPr>
          <p:cNvPr id="82" name="Text 80"/>
          <p:cNvSpPr/>
          <p:nvPr/>
        </p:nvSpPr>
        <p:spPr>
          <a:xfrm>
            <a:off x="6035040" y="4892040"/>
            <a:ext cx="1280160" cy="1005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FR" sz="600" b="1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M5</a:t>
            </a:r>
            <a:endParaRPr lang="fr-FR" sz="600" noProof="1"/>
          </a:p>
        </p:txBody>
      </p:sp>
      <p:sp>
        <p:nvSpPr>
          <p:cNvPr id="83" name="Shape 81"/>
          <p:cNvSpPr/>
          <p:nvPr/>
        </p:nvSpPr>
        <p:spPr>
          <a:xfrm>
            <a:off x="7315200" y="5020056"/>
            <a:ext cx="1280160" cy="100584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fr-FR" noProof="1"/>
          </a:p>
        </p:txBody>
      </p:sp>
      <p:sp>
        <p:nvSpPr>
          <p:cNvPr id="84" name="Text 82"/>
          <p:cNvSpPr/>
          <p:nvPr/>
        </p:nvSpPr>
        <p:spPr>
          <a:xfrm>
            <a:off x="7315200" y="5020056"/>
            <a:ext cx="1280160" cy="1005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FR" sz="600" b="1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M6</a:t>
            </a:r>
            <a:endParaRPr lang="fr-FR" sz="600" noProof="1"/>
          </a:p>
        </p:txBody>
      </p:sp>
      <p:sp>
        <p:nvSpPr>
          <p:cNvPr id="85" name="Slide Number Placeholder 84">
            <a:extLst>
              <a:ext uri="{FF2B5EF4-FFF2-40B4-BE49-F238E27FC236}">
                <a16:creationId xmlns:a16="http://schemas.microsoft.com/office/drawing/2014/main" id="{73D57D2A-0D78-705A-ECC6-8DD9DFA6CE0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945FB95-144E-49FD-B7E5-5AC832B9F648}" type="slidenum">
              <a:rPr lang="fr-FR" noProof="1" smtClean="0"/>
              <a:t>10</a:t>
            </a:fld>
            <a:endParaRPr lang="fr-FR" noProof="1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640080" y="27432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1B2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Budget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029200" y="1828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200" b="1" dirty="0">
                <a:solidFill>
                  <a:srgbClr val="0891B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137 301 €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544916" y="594360"/>
            <a:ext cx="21418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sur 150 000 € max - marge de 12 699 €</a:t>
            </a:r>
            <a:endParaRPr lang="en-US" sz="10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457200" y="1005840"/>
          <a:ext cx="502920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Shape 4"/>
          <p:cNvSpPr/>
          <p:nvPr/>
        </p:nvSpPr>
        <p:spPr>
          <a:xfrm>
            <a:off x="5760720" y="1005840"/>
            <a:ext cx="292608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8" name="Shape 5"/>
          <p:cNvSpPr/>
          <p:nvPr/>
        </p:nvSpPr>
        <p:spPr>
          <a:xfrm>
            <a:off x="5760720" y="1005840"/>
            <a:ext cx="2926080" cy="54864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" name="Text 6"/>
          <p:cNvSpPr/>
          <p:nvPr/>
        </p:nvSpPr>
        <p:spPr>
          <a:xfrm>
            <a:off x="5760720" y="114300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1B2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TCO sur 3 ans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760720" y="14630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891B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175 680 €</a:t>
            </a:r>
            <a:endParaRPr lang="en-US" sz="2800" dirty="0"/>
          </a:p>
        </p:txBody>
      </p:sp>
      <p:sp>
        <p:nvSpPr>
          <p:cNvPr id="11" name="Text 8"/>
          <p:cNvSpPr/>
          <p:nvPr/>
        </p:nvSpPr>
        <p:spPr>
          <a:xfrm>
            <a:off x="5760721" y="2011680"/>
            <a:ext cx="292607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noProof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 – dépenses d’investissement : ~137k €</a:t>
            </a:r>
            <a:endParaRPr lang="en-US" sz="1000" noProof="1"/>
          </a:p>
          <a:p>
            <a:pPr marL="0" indent="0" algn="ctr">
              <a:buNone/>
            </a:pPr>
            <a:r>
              <a:rPr lang="en-US" sz="1000" noProof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OPEX – dépenses de fonctionnement: ~19.3k €/an</a:t>
            </a:r>
            <a:endParaRPr lang="en-US" sz="1000" noProof="1"/>
          </a:p>
        </p:txBody>
      </p:sp>
      <p:sp>
        <p:nvSpPr>
          <p:cNvPr id="12" name="Shape 9"/>
          <p:cNvSpPr/>
          <p:nvPr/>
        </p:nvSpPr>
        <p:spPr>
          <a:xfrm>
            <a:off x="5760720" y="3017520"/>
            <a:ext cx="2926080" cy="16459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3" name="Shape 10"/>
          <p:cNvSpPr/>
          <p:nvPr/>
        </p:nvSpPr>
        <p:spPr>
          <a:xfrm>
            <a:off x="5760720" y="3017520"/>
            <a:ext cx="2926080" cy="54864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4" name="Text 11"/>
          <p:cNvSpPr/>
          <p:nvPr/>
        </p:nvSpPr>
        <p:spPr>
          <a:xfrm>
            <a:off x="5760720" y="315468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1B2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Choix clés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5897880" y="3429000"/>
            <a:ext cx="26517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FortiGate : interface connue DSI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Dell R650xs : évolutif, ProSupport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Reserved : -40% de coût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nœuds vs 3 : -15k €</a:t>
            </a:r>
            <a:endParaRPr lang="en-US" sz="950" dirty="0"/>
          </a:p>
        </p:txBody>
      </p:sp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ACF9C863-FD7B-C8C7-7DB6-32458F49498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945FB95-144E-49FD-B7E5-5AC832B9F648}" type="slidenum">
              <a:rPr lang="fr-FR" smtClean="0"/>
              <a:t>11</a:t>
            </a:fld>
            <a:endParaRPr lang="fr-F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 résumé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1920240" cy="2560320"/>
          </a:xfrm>
          <a:prstGeom prst="rect">
            <a:avLst/>
          </a:prstGeom>
          <a:solidFill>
            <a:srgbClr val="1A2744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1051560" y="1554480"/>
            <a:ext cx="731520" cy="731520"/>
          </a:xfrm>
          <a:prstGeom prst="ellipse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8720" y="1691640"/>
            <a:ext cx="457200" cy="457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57200" y="242316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Sécurisé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594360" y="2788920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FortiGate homogènes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VPN IKEv2 AES-256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MFA généralisé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2606040" y="1371600"/>
            <a:ext cx="1920240" cy="2560320"/>
          </a:xfrm>
          <a:prstGeom prst="rect">
            <a:avLst/>
          </a:prstGeom>
          <a:solidFill>
            <a:srgbClr val="1A2744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0" name="Shape 7"/>
          <p:cNvSpPr/>
          <p:nvPr/>
        </p:nvSpPr>
        <p:spPr>
          <a:xfrm>
            <a:off x="3200400" y="1554480"/>
            <a:ext cx="731520" cy="731520"/>
          </a:xfrm>
          <a:prstGeom prst="ellipse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37560" y="1691640"/>
            <a:ext cx="457200" cy="4572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2606040" y="242316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Résilient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2743200" y="2788920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 2 nœuds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 Azure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RTO &lt; 1h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4754880" y="1371600"/>
            <a:ext cx="1920240" cy="2560320"/>
          </a:xfrm>
          <a:prstGeom prst="rect">
            <a:avLst/>
          </a:prstGeom>
          <a:solidFill>
            <a:srgbClr val="1A2744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" name="Shape 11"/>
          <p:cNvSpPr/>
          <p:nvPr/>
        </p:nvSpPr>
        <p:spPr>
          <a:xfrm>
            <a:off x="5349240" y="1554480"/>
            <a:ext cx="731520" cy="731520"/>
          </a:xfrm>
          <a:prstGeom prst="ellipse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0" y="1691640"/>
            <a:ext cx="457200" cy="45720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4754880" y="242316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Prouvé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4892040" y="2788920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tests POC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4/4 PASS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VMs validées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6903720" y="1371600"/>
            <a:ext cx="1920240" cy="2560320"/>
          </a:xfrm>
          <a:prstGeom prst="rect">
            <a:avLst/>
          </a:prstGeom>
          <a:solidFill>
            <a:srgbClr val="1A2744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0" name="Shape 15"/>
          <p:cNvSpPr/>
          <p:nvPr/>
        </p:nvSpPr>
        <p:spPr>
          <a:xfrm>
            <a:off x="7498080" y="1554480"/>
            <a:ext cx="731520" cy="731520"/>
          </a:xfrm>
          <a:prstGeom prst="ellipse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35240" y="1691640"/>
            <a:ext cx="457200" cy="45720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6903720" y="242316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Maîtrisé</a:t>
            </a:r>
            <a:endParaRPr lang="en-US" sz="1600" dirty="0"/>
          </a:p>
        </p:txBody>
      </p:sp>
      <p:sp>
        <p:nvSpPr>
          <p:cNvPr id="23" name="Text 17"/>
          <p:cNvSpPr/>
          <p:nvPr/>
        </p:nvSpPr>
        <p:spPr>
          <a:xfrm>
            <a:off x="7040880" y="2788920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137k / 150k €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Marge 12.7k €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TCO 3 ans : 176k €</a:t>
            </a:r>
            <a:endParaRPr lang="en-US" sz="1100" dirty="0"/>
          </a:p>
        </p:txBody>
      </p:sp>
      <p:sp>
        <p:nvSpPr>
          <p:cNvPr id="24" name="Shape 18"/>
          <p:cNvSpPr/>
          <p:nvPr/>
        </p:nvSpPr>
        <p:spPr>
          <a:xfrm>
            <a:off x="3200400" y="4251960"/>
            <a:ext cx="2743200" cy="0"/>
          </a:xfrm>
          <a:prstGeom prst="line">
            <a:avLst/>
          </a:prstGeom>
          <a:noFill/>
          <a:ln w="254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5" name="Text 19"/>
          <p:cNvSpPr/>
          <p:nvPr/>
        </p:nvSpPr>
        <p:spPr>
          <a:xfrm>
            <a:off x="640080" y="443484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Merci — Questions ?</a:t>
            </a:r>
            <a:endParaRPr lang="en-US" sz="2200" dirty="0"/>
          </a:p>
        </p:txBody>
      </p:sp>
      <p:sp>
        <p:nvSpPr>
          <p:cNvPr id="26" name="Slide Number Placeholder 25">
            <a:extLst>
              <a:ext uri="{FF2B5EF4-FFF2-40B4-BE49-F238E27FC236}">
                <a16:creationId xmlns:a16="http://schemas.microsoft.com/office/drawing/2014/main" id="{42058E6C-CEA0-7FDC-DB52-9D720FC60D5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945FB95-144E-49FD-B7E5-5AC832B9F648}" type="slidenum">
              <a:rPr lang="fr-FR" smtClean="0"/>
              <a:t>12</a:t>
            </a:fld>
            <a:endParaRPr lang="fr-F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368</TotalTime>
  <Words>1060</Words>
  <Application>Microsoft Office PowerPoint</Application>
  <PresentationFormat>Affichage à l'écran (16:9)</PresentationFormat>
  <Paragraphs>266</Paragraphs>
  <Slides>12</Slides>
  <Notes>12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12</vt:i4>
      </vt:variant>
    </vt:vector>
  </HeadingPairs>
  <TitlesOfParts>
    <vt:vector size="17" baseType="lpstr">
      <vt:lpstr>Aptos</vt:lpstr>
      <vt:lpstr>Arial</vt:lpstr>
      <vt:lpstr>Calibri</vt:lpstr>
      <vt:lpstr>Trebuchet MS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MSPR — NordTransit Logistics</dc:title>
  <dc:subject>PptxGenJS Presentation</dc:subject>
  <dc:creator>Ianis — Équipe NordTransit</dc:creator>
  <cp:lastModifiedBy>Ianis Puichaud</cp:lastModifiedBy>
  <cp:revision>12</cp:revision>
  <dcterms:created xsi:type="dcterms:W3CDTF">2026-02-15T21:17:22Z</dcterms:created>
  <dcterms:modified xsi:type="dcterms:W3CDTF">2026-02-22T18:37:49Z</dcterms:modified>
</cp:coreProperties>
</file>