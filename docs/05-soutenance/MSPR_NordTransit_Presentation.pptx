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6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F2-41DD-B408-19671E8AB0D4}"/>
              </c:ext>
            </c:extLst>
          </c:dPt>
          <c:dPt>
            <c:idx val="1"/>
            <c:invertIfNegative val="0"/>
            <c:bubble3D val="0"/>
            <c:spPr>
              <a:solidFill>
                <a:srgbClr val="1A27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F2-41DD-B408-19671E8AB0D4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F2-41DD-B408-19671E8AB0D4}"/>
              </c:ext>
            </c:extLst>
          </c:dPt>
          <c:dPt>
            <c:idx val="3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F2-41DD-B408-19671E8AB0D4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CF2-41DD-B408-19671E8AB0D4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CF2-41DD-B408-19671E8AB0D4}"/>
              </c:ext>
            </c:extLst>
          </c:dPt>
          <c:dPt>
            <c:idx val="6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CF2-41DD-B408-19671E8AB0D4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CF2-41DD-B408-19671E8AB0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Virtualisation</c:v>
                </c:pt>
                <c:pt idx="1">
                  <c:v>Stockage SAN</c:v>
                </c:pt>
                <c:pt idx="2">
                  <c:v>Sécurité</c:v>
                </c:pt>
                <c:pt idx="3">
                  <c:v>Internet</c:v>
                </c:pt>
                <c:pt idx="4">
                  <c:v>Réseau</c:v>
                </c:pt>
                <c:pt idx="5">
                  <c:v>Azure PRA</c:v>
                </c:pt>
                <c:pt idx="6">
                  <c:v>Main d'œuvre</c:v>
                </c:pt>
                <c:pt idx="7">
                  <c:v>Supervision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30000</c:v>
                </c:pt>
                <c:pt idx="1">
                  <c:v>20000</c:v>
                </c:pt>
                <c:pt idx="2">
                  <c:v>17520</c:v>
                </c:pt>
                <c:pt idx="3">
                  <c:v>12840</c:v>
                </c:pt>
                <c:pt idx="4">
                  <c:v>12000</c:v>
                </c:pt>
                <c:pt idx="5">
                  <c:v>11232</c:v>
                </c:pt>
                <c:pt idx="6">
                  <c:v>8300</c:v>
                </c:pt>
                <c:pt idx="7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CF2-41DD-B408-19671E8AB0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6CC03B-15F5-0152-F2B6-818ED0C6A9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4332A-14E8-F8B5-CC0A-E7C1B37732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4C0E6-1A62-B0BD-8C26-C376CDEA8F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0FCD04-8815-B406-D702-EAD9EB4E6A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3C933-9933-4C31-BE6D-F5666E68E0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694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0415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7A6172-EF82-3779-3802-DDA232D0E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5B4E7C-A112-C4EC-AA6C-7BB2C68C9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7783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5FB95-144E-49FD-B7E5-5AC832B9F64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597033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MSPR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191393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NordTransit Logistics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05793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de l'infrastructure SI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837313"/>
            <a:ext cx="228600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3057270"/>
            <a:ext cx="7680960" cy="105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b="1" dirty="0">
                <a:solidFill>
                  <a:schemeClr val="bg1">
                    <a:lumMod val="75000"/>
                  </a:schemeClr>
                </a:solidFill>
              </a:rPr>
              <a:t>B3 ASRBD Groupe 2 :</a:t>
            </a:r>
            <a:endParaRPr lang="fr-FR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sz="1200" b="1" dirty="0">
                <a:solidFill>
                  <a:schemeClr val="bg1">
                    <a:lumMod val="75000"/>
                  </a:schemeClr>
                </a:solidFill>
              </a:rPr>
              <a:t>PUICHAUD Ianis</a:t>
            </a:r>
            <a:endParaRPr lang="fr-FR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sz="1200" b="1" dirty="0">
                <a:solidFill>
                  <a:schemeClr val="bg1">
                    <a:lumMod val="75000"/>
                  </a:schemeClr>
                </a:solidFill>
              </a:rPr>
              <a:t>ABOUYAALA </a:t>
            </a:r>
            <a:r>
              <a:rPr lang="fr-FR" sz="1200" b="1" dirty="0" err="1">
                <a:solidFill>
                  <a:schemeClr val="bg1">
                    <a:lumMod val="75000"/>
                  </a:schemeClr>
                </a:solidFill>
              </a:rPr>
              <a:t>Zaid</a:t>
            </a:r>
            <a:endParaRPr lang="fr-FR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sz="1200" b="1" dirty="0">
                <a:solidFill>
                  <a:schemeClr val="bg1">
                    <a:lumMod val="75000"/>
                  </a:schemeClr>
                </a:solidFill>
              </a:rPr>
              <a:t>LANTSIGBLE </a:t>
            </a:r>
            <a:r>
              <a:rPr lang="fr-FR" sz="1200" b="1" dirty="0" err="1">
                <a:solidFill>
                  <a:schemeClr val="bg1">
                    <a:lumMod val="75000"/>
                  </a:schemeClr>
                </a:solidFill>
              </a:rPr>
              <a:t>Ojvind</a:t>
            </a:r>
            <a:endParaRPr lang="fr-FR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sz="1200" b="1" dirty="0">
                <a:solidFill>
                  <a:schemeClr val="bg1">
                    <a:lumMod val="75000"/>
                  </a:schemeClr>
                </a:solidFill>
              </a:rPr>
              <a:t>LENOGUE Ewan</a:t>
            </a:r>
            <a:endParaRPr lang="fr-FR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fr-FR" sz="1200" b="1" dirty="0">
                <a:solidFill>
                  <a:schemeClr val="bg1">
                    <a:lumMod val="75000"/>
                  </a:schemeClr>
                </a:solidFill>
              </a:rPr>
              <a:t>WANDA NKONG Blaise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182527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30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6C498870-44BD-C17F-F7FC-10CCCEDDE0A3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D30BC3A2-0A5F-99AF-514B-9B513DAAA6DF}"/>
              </a:ext>
            </a:extLst>
          </p:cNvPr>
          <p:cNvSpPr/>
          <p:nvPr/>
        </p:nvSpPr>
        <p:spPr>
          <a:xfrm>
            <a:off x="9107424" y="54864"/>
            <a:ext cx="36576" cy="5088636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01E84D-3B85-EE0E-39BB-536A85C16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987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client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NordTransit Logistics en bref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645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douleur et risques identifiés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1901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cible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103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technique proposée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3591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&amp; réseau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560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FortiGate, VPN IKEv2, VLAN, QoS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8346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Haute disponibilité &amp; PRA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HA, Azure Site Recovery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273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POC &amp; résultats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474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VMs Proxmox, 4 tests validés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7490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730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Stratégie de migration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3931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phases, planning 6 semaines, rollback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2062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40080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4187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4389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137k € sur 150k max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914400"/>
            <a:ext cx="2286000" cy="3657600"/>
          </a:xfrm>
          <a:prstGeom prst="rect">
            <a:avLst/>
          </a:prstGeom>
          <a:solidFill>
            <a:srgbClr val="1A2744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103120"/>
            <a:ext cx="1188720" cy="1188720"/>
          </a:xfrm>
          <a:prstGeom prst="rect">
            <a:avLst/>
          </a:prstGeom>
        </p:spPr>
      </p:pic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6E1AA80D-5AA2-B9AF-E18F-86BD280C9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client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NordTransit Logistics - PME logistique, Hauts-de-France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828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Lille, Lens, Valenciennes, Arras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2697480" y="1371600"/>
            <a:ext cx="1828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697480" y="137160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54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240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26974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889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300 en haute saison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754880" y="1371600"/>
            <a:ext cx="1828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754880" y="137160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554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20+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47548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463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serveur unique (SPOF)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812280" y="1371600"/>
            <a:ext cx="1828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6812280" y="137160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5544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1228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68122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037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resp. + 3 techniciens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critique : WMS (gestion d'entrepôt) - indisponibilité = arrêt des 4 sites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5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critiques WMS : 5h30 - 18h30  |  Active Directory : 24/7  |  VoIP : 7h00 - 18h30</a:t>
            </a:r>
            <a:endParaRPr lang="en-US" sz="1100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1D0E5894-8811-3D6A-F893-DC5C204E6E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Problématique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3444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252728"/>
            <a:ext cx="68580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589520" y="125272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63040" y="11247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SPOF critique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6304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unique Dell R630 - panne = arrêt total de tous les services (AD, WMS, VoIP, supervision)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9659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640080" y="196596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4884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589520" y="2167128"/>
            <a:ext cx="68580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7589520" y="216712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463040" y="20391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de PRA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463040" y="2331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Sinistre au siège = perte définitive des données, aucun plan de reprise d'activité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28803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40080" y="2880360"/>
            <a:ext cx="54864" cy="7772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063240"/>
            <a:ext cx="411480" cy="4114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589520" y="3081528"/>
            <a:ext cx="685800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7589520" y="308152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463040" y="29535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obsolète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463040" y="3246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80D en fin de vie, DrayTek basiques, VPN IKEv1, MFA partiel (IT uniquement)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640080" y="379476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977640"/>
            <a:ext cx="411480" cy="4114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589520" y="3995928"/>
            <a:ext cx="68580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3"/>
          <p:cNvSpPr/>
          <p:nvPr/>
        </p:nvSpPr>
        <p:spPr>
          <a:xfrm>
            <a:off x="7589520" y="399592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463040" y="38679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VoIP dégradée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463040" y="4160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QoS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configurée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la voix se coupe quand le réseau est chargé</a:t>
            </a:r>
            <a:endParaRPr lang="en-US" sz="1100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9D4620E7-AE71-B1E4-B937-8A22C1FA8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la solution proposée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749040" cy="3108960"/>
          </a:xfrm>
          <a:prstGeom prst="rect">
            <a:avLst/>
          </a:prstGeom>
          <a:solidFill>
            <a:srgbClr val="1E3A5F">
              <a:alpha val="50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LILLE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3291840" cy="41148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335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100F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2148840"/>
            <a:ext cx="3291840" cy="41148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219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2x R650xs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" y="2697480"/>
            <a:ext cx="3291840" cy="41148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7063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PowerVault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4360" y="3246120"/>
            <a:ext cx="3291840" cy="41148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1927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(DC01 + DC02)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212080" y="1143000"/>
            <a:ext cx="3566160" cy="1371600"/>
          </a:xfrm>
          <a:prstGeom prst="rect">
            <a:avLst/>
          </a:prstGeom>
          <a:solidFill>
            <a:srgbClr val="1E3A5F">
              <a:alpha val="50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521208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ENTREPÔTS x4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40680" y="1600200"/>
            <a:ext cx="3108960" cy="41148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733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9788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60F / 40F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40680" y="2103120"/>
            <a:ext cx="3108960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sp>
        <p:nvSpPr>
          <p:cNvPr id="25" name="Text 18"/>
          <p:cNvSpPr/>
          <p:nvPr/>
        </p:nvSpPr>
        <p:spPr>
          <a:xfrm>
            <a:off x="544068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C9200-24P  |  Postes + RF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114800" y="1801368"/>
            <a:ext cx="10972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0"/>
          <p:cNvSpPr/>
          <p:nvPr/>
        </p:nvSpPr>
        <p:spPr>
          <a:xfrm>
            <a:off x="4160520" y="1920240"/>
            <a:ext cx="10058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1"/>
          <p:cNvSpPr/>
          <p:nvPr/>
        </p:nvSpPr>
        <p:spPr>
          <a:xfrm>
            <a:off x="4160520" y="1920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IKEv2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212080" y="2743200"/>
            <a:ext cx="3566160" cy="1508760"/>
          </a:xfrm>
          <a:prstGeom prst="rect">
            <a:avLst/>
          </a:prstGeom>
          <a:solidFill>
            <a:srgbClr val="1E3A5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3"/>
          <p:cNvSpPr/>
          <p:nvPr/>
        </p:nvSpPr>
        <p:spPr>
          <a:xfrm>
            <a:off x="521208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— PRA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440680" y="3154680"/>
            <a:ext cx="3108960" cy="292608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191256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5216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répliqué (RPO = 0)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40680" y="3520440"/>
            <a:ext cx="3108960" cy="292608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557016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85216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Recovery (20 VMs)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5440680" y="3886200"/>
            <a:ext cx="3108960" cy="292608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922776"/>
            <a:ext cx="219456" cy="21945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85216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+ Witness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4114800" y="329184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1"/>
          <p:cNvSpPr/>
          <p:nvPr/>
        </p:nvSpPr>
        <p:spPr>
          <a:xfrm>
            <a:off x="4389120" y="3406139"/>
            <a:ext cx="594360" cy="45720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2" name="Text 32"/>
          <p:cNvSpPr/>
          <p:nvPr/>
        </p:nvSpPr>
        <p:spPr>
          <a:xfrm>
            <a:off x="4389120" y="3410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00" dirty="0"/>
          </a:p>
        </p:txBody>
      </p:sp>
      <p:sp>
        <p:nvSpPr>
          <p:cNvPr id="43" name="Shape 33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4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: 137k € / 150k max  —  FortiGate homogènes  —  Cluster HA  —  PRA Azure  —  QoS VoIP</a:t>
            </a:r>
            <a:endParaRPr lang="en-US" sz="1100" dirty="0"/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7981E068-B07D-9551-2F81-AB9B27D31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&amp; réseau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Pare-feu FortiGate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: FortiGate 100F (Hub VPN, UTM)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Entrepôts : 3x FortiGate 60F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Cross-dock : FortiGate 40F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centralisée + politique uniforme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VPN &amp; segmentation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1691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IKEv2 + AES-256-GCM (5 tunnels)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(Dead Peer Detection)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VLANs : MGMT, Serveurs, Data, VoIP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inter-VLAN strict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par VLAN — Priorisation du trafic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49040"/>
          <a:ext cx="7863840" cy="12313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Bande passante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VOIP (40)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(46)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minimum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SERVEURS (20)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Moyenne-Haute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AF31 (26)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(0)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 (10)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 (16)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00C71C8-35F7-E2D6-8047-50993EEF5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Haute disponibilité &amp; PRA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on-premise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Dell R650xs (256 Go RAM)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iSCSI PowerVault ME5012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via Azure Cloud Witness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Basculement automatique &lt; 5 min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~15k € vs 3 nœuds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Azure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16916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répliqué dans Azure (RPO = 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Site Recovery (20 VMs)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pour les backups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 site-à-site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3 ans (-40% de coût)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RTO / RPO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23360"/>
          <a:ext cx="7863840" cy="9875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Directory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(temps réel)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répliqué Azure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Site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VM sur nœud sain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8E0191A-7FA7-021C-3C0F-19978C0EE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POC — Proof of Concept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VMs sur Proxmox VE pour valider chaque brique de l'architecture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5720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572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Siège — 172.16.132.0/24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011680" cy="36576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FW-SIEGE (pfSense)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331720"/>
            <a:ext cx="2011680" cy="36576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DC01 (Win Server)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2011680" cy="36576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DC02 (Win Server)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1828800"/>
            <a:ext cx="2011680" cy="36576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27432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(Ubuntu + MySQL)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331720"/>
            <a:ext cx="2011680" cy="36576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IPBX (FreePBX)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337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→ Lab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FortiGate → pfSense  |  Windows Server → identique  |  WMS → Ubuntu + MySQL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Limite : pas de failover cluster physique en lab (couvert par specs Dell)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0" y="2286000"/>
            <a:ext cx="731520" cy="0"/>
          </a:xfrm>
          <a:prstGeom prst="line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029200" y="2377440"/>
            <a:ext cx="548640" cy="3200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31111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0" y="1325880"/>
            <a:ext cx="3108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669280" y="1325880"/>
            <a:ext cx="3108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66928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Azure — 10.100.0.0/24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97880" y="1828800"/>
            <a:ext cx="2651760" cy="36576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8978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FW-AZURE (pfSense)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2331720"/>
            <a:ext cx="2651760" cy="36576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89788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DC-AZURE (Win Server)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246121"/>
            <a:ext cx="3108960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669280" y="3246121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9.1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Go RAM | 720 Go SSD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3FFC7F07-F500-B085-F971-6D9B86710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 POC - 4 tests, 4 PASS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566160" y="1188720"/>
            <a:ext cx="7315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566160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16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QoS VoIP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80160" y="1490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stable sous 500 Mbps de charge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1920240"/>
            <a:ext cx="356616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14400" y="1920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0.1ms  |  Jitter 0.04ms  |  0% perte  |  MOS 4.4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7680960" y="1188720"/>
            <a:ext cx="7315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680960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216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Failover AD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394960" y="1490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DC02 prend le relais si DC01 tombe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92040" y="1920240"/>
            <a:ext cx="356616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5029200" y="1920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&lt; 30s  |  DNS + Auth OK  |  Réplication 0 erreurs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0080" y="28803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640080" y="28803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566160" y="3017520"/>
            <a:ext cx="7315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3566160" y="3017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6324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0160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Failover WMS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1280160" y="3319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survit à un arrêt brutal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77240" y="3749040"/>
            <a:ext cx="356616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91440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 ~20s  |  MySQL actif  |  5/5 records intacts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54880" y="28803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7"/>
          <p:cNvSpPr/>
          <p:nvPr/>
        </p:nvSpPr>
        <p:spPr>
          <a:xfrm>
            <a:off x="4754880" y="28803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8"/>
          <p:cNvSpPr/>
          <p:nvPr/>
        </p:nvSpPr>
        <p:spPr>
          <a:xfrm>
            <a:off x="7680960" y="3017520"/>
            <a:ext cx="7315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9"/>
          <p:cNvSpPr/>
          <p:nvPr/>
        </p:nvSpPr>
        <p:spPr>
          <a:xfrm>
            <a:off x="7680960" y="3017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Tunnel Azure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5394960" y="3319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siège ↔ Azure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892040" y="3749040"/>
            <a:ext cx="356616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3"/>
          <p:cNvSpPr/>
          <p:nvPr/>
        </p:nvSpPr>
        <p:spPr>
          <a:xfrm>
            <a:off x="502920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&lt; 1ms  |  DNS cross-site  |  Réplication AD OK</a:t>
            </a:r>
            <a:endParaRPr lang="en-US" sz="1000" dirty="0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D3B0EC6A-40D6-25A3-C723-481C8E4D5A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noProof="1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Stratégie de migration</a:t>
            </a:r>
            <a:endParaRPr lang="fr-FR" sz="3000" noProof="1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 sur 6 semaines - migrations nocturnes - rollback à chaque étape</a:t>
            </a:r>
            <a:endParaRPr lang="fr-FR" sz="1200" noProof="1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5720" cy="914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" name="Shape 5"/>
          <p:cNvSpPr/>
          <p:nvPr/>
        </p:nvSpPr>
        <p:spPr>
          <a:xfrm>
            <a:off x="530352" y="1207008"/>
            <a:ext cx="50292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" name="Text 6"/>
          <p:cNvSpPr/>
          <p:nvPr/>
        </p:nvSpPr>
        <p:spPr>
          <a:xfrm>
            <a:off x="530352" y="12070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fr-FR" sz="1200" noProof="1"/>
          </a:p>
        </p:txBody>
      </p:sp>
      <p:sp>
        <p:nvSpPr>
          <p:cNvPr id="9" name="Text 7"/>
          <p:cNvSpPr/>
          <p:nvPr/>
        </p:nvSpPr>
        <p:spPr>
          <a:xfrm>
            <a:off x="1143000" y="11521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1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Pare-feu</a:t>
            </a:r>
            <a:endParaRPr lang="fr-FR" sz="1300" noProof="1"/>
          </a:p>
        </p:txBody>
      </p:sp>
      <p:sp>
        <p:nvSpPr>
          <p:cNvPr id="10" name="Text 8"/>
          <p:cNvSpPr/>
          <p:nvPr/>
        </p:nvSpPr>
        <p:spPr>
          <a:xfrm>
            <a:off x="114300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DrayTek/80D → FortiGate</a:t>
            </a:r>
            <a:endParaRPr lang="fr-FR" sz="900" noProof="1"/>
          </a:p>
        </p:txBody>
      </p:sp>
      <p:sp>
        <p:nvSpPr>
          <p:cNvPr id="11" name="Shape 9"/>
          <p:cNvSpPr/>
          <p:nvPr/>
        </p:nvSpPr>
        <p:spPr>
          <a:xfrm>
            <a:off x="3383280" y="1170432"/>
            <a:ext cx="10058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2" name="Text 10"/>
          <p:cNvSpPr/>
          <p:nvPr/>
        </p:nvSpPr>
        <p:spPr>
          <a:xfrm>
            <a:off x="3383280" y="11704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750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nuits (S1-S2)</a:t>
            </a:r>
            <a:endParaRPr lang="fr-FR" sz="750" noProof="1"/>
          </a:p>
        </p:txBody>
      </p:sp>
      <p:sp>
        <p:nvSpPr>
          <p:cNvPr id="13" name="Text 11"/>
          <p:cNvSpPr/>
          <p:nvPr/>
        </p:nvSpPr>
        <p:spPr>
          <a:xfrm>
            <a:off x="1143000" y="1627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i="1" noProof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Rebrancher ancien équipement (~15 min)</a:t>
            </a:r>
            <a:endParaRPr lang="fr-FR" sz="800" noProof="1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5720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6" name="Shape 14"/>
          <p:cNvSpPr/>
          <p:nvPr/>
        </p:nvSpPr>
        <p:spPr>
          <a:xfrm>
            <a:off x="4919472" y="1207008"/>
            <a:ext cx="50292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7" name="Text 15"/>
          <p:cNvSpPr/>
          <p:nvPr/>
        </p:nvSpPr>
        <p:spPr>
          <a:xfrm>
            <a:off x="4919472" y="12070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fr-FR" sz="1200" noProof="1"/>
          </a:p>
        </p:txBody>
      </p:sp>
      <p:sp>
        <p:nvSpPr>
          <p:cNvPr id="18" name="Text 16"/>
          <p:cNvSpPr/>
          <p:nvPr/>
        </p:nvSpPr>
        <p:spPr>
          <a:xfrm>
            <a:off x="5532120" y="11521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1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</a:t>
            </a:r>
            <a:endParaRPr lang="fr-FR" sz="1300" noProof="1"/>
          </a:p>
        </p:txBody>
      </p:sp>
      <p:sp>
        <p:nvSpPr>
          <p:cNvPr id="19" name="Text 17"/>
          <p:cNvSpPr/>
          <p:nvPr/>
        </p:nvSpPr>
        <p:spPr>
          <a:xfrm>
            <a:off x="553212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2x R650xs + SAN ME5012</a:t>
            </a:r>
            <a:endParaRPr lang="fr-FR" sz="900" noProof="1"/>
          </a:p>
        </p:txBody>
      </p:sp>
      <p:sp>
        <p:nvSpPr>
          <p:cNvPr id="20" name="Shape 18"/>
          <p:cNvSpPr/>
          <p:nvPr/>
        </p:nvSpPr>
        <p:spPr>
          <a:xfrm>
            <a:off x="7772400" y="1170432"/>
            <a:ext cx="10058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1" name="Text 19"/>
          <p:cNvSpPr/>
          <p:nvPr/>
        </p:nvSpPr>
        <p:spPr>
          <a:xfrm>
            <a:off x="7772400" y="11704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750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 + 2j (S2-S3)</a:t>
            </a:r>
            <a:endParaRPr lang="fr-FR" sz="750" noProof="1"/>
          </a:p>
        </p:txBody>
      </p:sp>
      <p:sp>
        <p:nvSpPr>
          <p:cNvPr id="22" name="Text 20"/>
          <p:cNvSpPr/>
          <p:nvPr/>
        </p:nvSpPr>
        <p:spPr>
          <a:xfrm>
            <a:off x="5532120" y="1627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i="1" noProof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R630 reste actif en parallèle</a:t>
            </a:r>
            <a:endParaRPr lang="fr-FR" sz="800" noProof="1"/>
          </a:p>
        </p:txBody>
      </p:sp>
      <p:sp>
        <p:nvSpPr>
          <p:cNvPr id="23" name="Shape 21"/>
          <p:cNvSpPr/>
          <p:nvPr/>
        </p:nvSpPr>
        <p:spPr>
          <a:xfrm>
            <a:off x="365760" y="2121408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24" name="Shape 22"/>
          <p:cNvSpPr/>
          <p:nvPr/>
        </p:nvSpPr>
        <p:spPr>
          <a:xfrm>
            <a:off x="365760" y="2121408"/>
            <a:ext cx="4572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5" name="Shape 23"/>
          <p:cNvSpPr/>
          <p:nvPr/>
        </p:nvSpPr>
        <p:spPr>
          <a:xfrm>
            <a:off x="530352" y="2231136"/>
            <a:ext cx="50292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6" name="Text 24"/>
          <p:cNvSpPr/>
          <p:nvPr/>
        </p:nvSpPr>
        <p:spPr>
          <a:xfrm>
            <a:off x="530352" y="223113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fr-FR" sz="1200" noProof="1"/>
          </a:p>
        </p:txBody>
      </p:sp>
      <p:sp>
        <p:nvSpPr>
          <p:cNvPr id="27" name="Text 25"/>
          <p:cNvSpPr/>
          <p:nvPr/>
        </p:nvSpPr>
        <p:spPr>
          <a:xfrm>
            <a:off x="1143000" y="2176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1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VMs</a:t>
            </a:r>
            <a:endParaRPr lang="fr-FR" sz="1300" noProof="1"/>
          </a:p>
        </p:txBody>
      </p:sp>
      <p:sp>
        <p:nvSpPr>
          <p:cNvPr id="28" name="Text 26"/>
          <p:cNvSpPr/>
          <p:nvPr/>
        </p:nvSpPr>
        <p:spPr>
          <a:xfrm>
            <a:off x="1143000" y="2395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~20 VMs du R630 → cluster</a:t>
            </a:r>
            <a:endParaRPr lang="fr-FR" sz="900" noProof="1"/>
          </a:p>
        </p:txBody>
      </p:sp>
      <p:sp>
        <p:nvSpPr>
          <p:cNvPr id="29" name="Shape 27"/>
          <p:cNvSpPr/>
          <p:nvPr/>
        </p:nvSpPr>
        <p:spPr>
          <a:xfrm>
            <a:off x="3383280" y="2194560"/>
            <a:ext cx="10058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0" name="Text 28"/>
          <p:cNvSpPr/>
          <p:nvPr/>
        </p:nvSpPr>
        <p:spPr>
          <a:xfrm>
            <a:off x="3383280" y="2194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750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nuits WE (S3)</a:t>
            </a:r>
            <a:endParaRPr lang="fr-FR" sz="750" noProof="1"/>
          </a:p>
        </p:txBody>
      </p:sp>
      <p:sp>
        <p:nvSpPr>
          <p:cNvPr id="31" name="Text 29"/>
          <p:cNvSpPr/>
          <p:nvPr/>
        </p:nvSpPr>
        <p:spPr>
          <a:xfrm>
            <a:off x="114300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i="1" noProof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Restaurer snapshots sur R630 (~30 min)</a:t>
            </a:r>
            <a:endParaRPr lang="fr-FR" sz="800" noProof="1"/>
          </a:p>
        </p:txBody>
      </p:sp>
      <p:sp>
        <p:nvSpPr>
          <p:cNvPr id="32" name="Shape 30"/>
          <p:cNvSpPr/>
          <p:nvPr/>
        </p:nvSpPr>
        <p:spPr>
          <a:xfrm>
            <a:off x="4754880" y="2121408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33" name="Shape 31"/>
          <p:cNvSpPr/>
          <p:nvPr/>
        </p:nvSpPr>
        <p:spPr>
          <a:xfrm>
            <a:off x="4754880" y="2121408"/>
            <a:ext cx="45720" cy="914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4" name="Shape 32"/>
          <p:cNvSpPr/>
          <p:nvPr/>
        </p:nvSpPr>
        <p:spPr>
          <a:xfrm>
            <a:off x="4919472" y="2231136"/>
            <a:ext cx="50292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5" name="Text 33"/>
          <p:cNvSpPr/>
          <p:nvPr/>
        </p:nvSpPr>
        <p:spPr>
          <a:xfrm>
            <a:off x="4919472" y="223113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fr-FR" sz="1200" noProof="1"/>
          </a:p>
        </p:txBody>
      </p:sp>
      <p:sp>
        <p:nvSpPr>
          <p:cNvPr id="36" name="Text 34"/>
          <p:cNvSpPr/>
          <p:nvPr/>
        </p:nvSpPr>
        <p:spPr>
          <a:xfrm>
            <a:off x="5532120" y="2176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1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</a:t>
            </a:r>
            <a:endParaRPr lang="fr-FR" sz="1300" noProof="1"/>
          </a:p>
        </p:txBody>
      </p:sp>
      <p:sp>
        <p:nvSpPr>
          <p:cNvPr id="37" name="Text 35"/>
          <p:cNvSpPr/>
          <p:nvPr/>
        </p:nvSpPr>
        <p:spPr>
          <a:xfrm>
            <a:off x="5532120" y="2395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site-à-site + DC répliqué + ASR</a:t>
            </a:r>
            <a:endParaRPr lang="fr-FR" sz="900" noProof="1"/>
          </a:p>
        </p:txBody>
      </p:sp>
      <p:sp>
        <p:nvSpPr>
          <p:cNvPr id="38" name="Shape 36"/>
          <p:cNvSpPr/>
          <p:nvPr/>
        </p:nvSpPr>
        <p:spPr>
          <a:xfrm>
            <a:off x="7772400" y="2194560"/>
            <a:ext cx="10058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9" name="Text 37"/>
          <p:cNvSpPr/>
          <p:nvPr/>
        </p:nvSpPr>
        <p:spPr>
          <a:xfrm>
            <a:off x="7772400" y="2194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750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jours (S4)</a:t>
            </a:r>
            <a:endParaRPr lang="fr-FR" sz="750" noProof="1"/>
          </a:p>
        </p:txBody>
      </p:sp>
      <p:sp>
        <p:nvSpPr>
          <p:cNvPr id="40" name="Text 38"/>
          <p:cNvSpPr/>
          <p:nvPr/>
        </p:nvSpPr>
        <p:spPr>
          <a:xfrm>
            <a:off x="553212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i="1" noProof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Couper tunnel, supprimer ressources (~5 min)</a:t>
            </a:r>
            <a:endParaRPr lang="fr-FR" sz="800" noProof="1"/>
          </a:p>
        </p:txBody>
      </p:sp>
      <p:sp>
        <p:nvSpPr>
          <p:cNvPr id="41" name="Shape 39"/>
          <p:cNvSpPr/>
          <p:nvPr/>
        </p:nvSpPr>
        <p:spPr>
          <a:xfrm>
            <a:off x="365760" y="3145536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42" name="Shape 40"/>
          <p:cNvSpPr/>
          <p:nvPr/>
        </p:nvSpPr>
        <p:spPr>
          <a:xfrm>
            <a:off x="365760" y="3145536"/>
            <a:ext cx="45720" cy="914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3" name="Shape 41"/>
          <p:cNvSpPr/>
          <p:nvPr/>
        </p:nvSpPr>
        <p:spPr>
          <a:xfrm>
            <a:off x="530352" y="3255264"/>
            <a:ext cx="50292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4" name="Text 42"/>
          <p:cNvSpPr/>
          <p:nvPr/>
        </p:nvSpPr>
        <p:spPr>
          <a:xfrm>
            <a:off x="530352" y="325526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fr-FR" sz="1200" noProof="1"/>
          </a:p>
        </p:txBody>
      </p:sp>
      <p:sp>
        <p:nvSpPr>
          <p:cNvPr id="45" name="Text 43"/>
          <p:cNvSpPr/>
          <p:nvPr/>
        </p:nvSpPr>
        <p:spPr>
          <a:xfrm>
            <a:off x="114300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1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QoS/VLAN</a:t>
            </a:r>
            <a:endParaRPr lang="fr-FR" sz="1300" noProof="1"/>
          </a:p>
        </p:txBody>
      </p:sp>
      <p:sp>
        <p:nvSpPr>
          <p:cNvPr id="46" name="Text 44"/>
          <p:cNvSpPr/>
          <p:nvPr/>
        </p:nvSpPr>
        <p:spPr>
          <a:xfrm>
            <a:off x="1143000" y="3419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4 VLAN + DSCP + QoS VoIP</a:t>
            </a:r>
            <a:endParaRPr lang="fr-FR" sz="900" noProof="1"/>
          </a:p>
        </p:txBody>
      </p:sp>
      <p:sp>
        <p:nvSpPr>
          <p:cNvPr id="47" name="Shape 45"/>
          <p:cNvSpPr/>
          <p:nvPr/>
        </p:nvSpPr>
        <p:spPr>
          <a:xfrm>
            <a:off x="3383280" y="3218688"/>
            <a:ext cx="10058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8" name="Text 46"/>
          <p:cNvSpPr/>
          <p:nvPr/>
        </p:nvSpPr>
        <p:spPr>
          <a:xfrm>
            <a:off x="3383280" y="3218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750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nuits (S5)</a:t>
            </a:r>
            <a:endParaRPr lang="fr-FR" sz="750" noProof="1"/>
          </a:p>
        </p:txBody>
      </p:sp>
      <p:sp>
        <p:nvSpPr>
          <p:cNvPr id="49" name="Text 47"/>
          <p:cNvSpPr/>
          <p:nvPr/>
        </p:nvSpPr>
        <p:spPr>
          <a:xfrm>
            <a:off x="1143000" y="36758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i="1" noProof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Désactiver VLAN, retour flat (~20 min)</a:t>
            </a:r>
            <a:endParaRPr lang="fr-FR" sz="800" noProof="1"/>
          </a:p>
        </p:txBody>
      </p:sp>
      <p:sp>
        <p:nvSpPr>
          <p:cNvPr id="50" name="Shape 48"/>
          <p:cNvSpPr/>
          <p:nvPr/>
        </p:nvSpPr>
        <p:spPr>
          <a:xfrm>
            <a:off x="4754880" y="3145536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51" name="Shape 49"/>
          <p:cNvSpPr/>
          <p:nvPr/>
        </p:nvSpPr>
        <p:spPr>
          <a:xfrm>
            <a:off x="4754880" y="3145536"/>
            <a:ext cx="45720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2" name="Shape 50"/>
          <p:cNvSpPr/>
          <p:nvPr/>
        </p:nvSpPr>
        <p:spPr>
          <a:xfrm>
            <a:off x="4919472" y="3255264"/>
            <a:ext cx="50292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3" name="Text 51"/>
          <p:cNvSpPr/>
          <p:nvPr/>
        </p:nvSpPr>
        <p:spPr>
          <a:xfrm>
            <a:off x="4919472" y="325526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fr-FR" sz="1200" noProof="1"/>
          </a:p>
        </p:txBody>
      </p:sp>
      <p:sp>
        <p:nvSpPr>
          <p:cNvPr id="54" name="Text 52"/>
          <p:cNvSpPr/>
          <p:nvPr/>
        </p:nvSpPr>
        <p:spPr>
          <a:xfrm>
            <a:off x="553212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1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fr-FR" sz="1300" noProof="1"/>
          </a:p>
        </p:txBody>
      </p:sp>
      <p:sp>
        <p:nvSpPr>
          <p:cNvPr id="55" name="Text 53"/>
          <p:cNvSpPr/>
          <p:nvPr/>
        </p:nvSpPr>
        <p:spPr>
          <a:xfrm>
            <a:off x="5532120" y="3419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bout en bout + test PRA complet</a:t>
            </a:r>
            <a:endParaRPr lang="fr-FR" sz="900" noProof="1"/>
          </a:p>
        </p:txBody>
      </p:sp>
      <p:sp>
        <p:nvSpPr>
          <p:cNvPr id="56" name="Shape 54"/>
          <p:cNvSpPr/>
          <p:nvPr/>
        </p:nvSpPr>
        <p:spPr>
          <a:xfrm>
            <a:off x="7772400" y="3218688"/>
            <a:ext cx="10058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7" name="Text 55"/>
          <p:cNvSpPr/>
          <p:nvPr/>
        </p:nvSpPr>
        <p:spPr>
          <a:xfrm>
            <a:off x="7772400" y="3218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750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 (S6)</a:t>
            </a:r>
            <a:endParaRPr lang="fr-FR" sz="750" noProof="1"/>
          </a:p>
        </p:txBody>
      </p:sp>
      <p:sp>
        <p:nvSpPr>
          <p:cNvPr id="58" name="Text 56"/>
          <p:cNvSpPr/>
          <p:nvPr/>
        </p:nvSpPr>
        <p:spPr>
          <a:xfrm>
            <a:off x="5532120" y="36758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i="1" noProof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Non applicable (tests uniquement)</a:t>
            </a:r>
            <a:endParaRPr lang="fr-FR" sz="800" noProof="1"/>
          </a:p>
        </p:txBody>
      </p:sp>
      <p:sp>
        <p:nvSpPr>
          <p:cNvPr id="59" name="Shape 57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0" name="Text 58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: 6 semaines — interventions nocturnes et week-ends uniquement</a:t>
            </a:r>
            <a:endParaRPr lang="fr-FR" sz="1000" noProof="1"/>
          </a:p>
        </p:txBody>
      </p:sp>
      <p:sp>
        <p:nvSpPr>
          <p:cNvPr id="61" name="Shape 59"/>
          <p:cNvSpPr/>
          <p:nvPr/>
        </p:nvSpPr>
        <p:spPr>
          <a:xfrm>
            <a:off x="914400" y="4206240"/>
            <a:ext cx="1280160" cy="173464"/>
          </a:xfrm>
          <a:prstGeom prst="rect">
            <a:avLst/>
          </a:prstGeom>
          <a:solidFill>
            <a:srgbClr val="F0F4F8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2" name="Text 60"/>
          <p:cNvSpPr/>
          <p:nvPr/>
        </p:nvSpPr>
        <p:spPr>
          <a:xfrm>
            <a:off x="914400" y="4206240"/>
            <a:ext cx="1280160" cy="17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fr-FR" sz="800" noProof="1"/>
          </a:p>
        </p:txBody>
      </p:sp>
      <p:sp>
        <p:nvSpPr>
          <p:cNvPr id="63" name="Shape 61"/>
          <p:cNvSpPr/>
          <p:nvPr/>
        </p:nvSpPr>
        <p:spPr>
          <a:xfrm>
            <a:off x="2194560" y="4206240"/>
            <a:ext cx="1280160" cy="173464"/>
          </a:xfrm>
          <a:prstGeom prst="rect">
            <a:avLst/>
          </a:prstGeom>
          <a:solidFill>
            <a:srgbClr val="F0F4F8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4" name="Text 62"/>
          <p:cNvSpPr/>
          <p:nvPr/>
        </p:nvSpPr>
        <p:spPr>
          <a:xfrm>
            <a:off x="2194560" y="4206240"/>
            <a:ext cx="1280160" cy="17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fr-FR" sz="800" noProof="1"/>
          </a:p>
        </p:txBody>
      </p:sp>
      <p:sp>
        <p:nvSpPr>
          <p:cNvPr id="65" name="Shape 63"/>
          <p:cNvSpPr/>
          <p:nvPr/>
        </p:nvSpPr>
        <p:spPr>
          <a:xfrm>
            <a:off x="3474720" y="4206240"/>
            <a:ext cx="1280160" cy="173464"/>
          </a:xfrm>
          <a:prstGeom prst="rect">
            <a:avLst/>
          </a:prstGeom>
          <a:solidFill>
            <a:srgbClr val="F0F4F8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6" name="Text 64"/>
          <p:cNvSpPr/>
          <p:nvPr/>
        </p:nvSpPr>
        <p:spPr>
          <a:xfrm>
            <a:off x="3474720" y="4206240"/>
            <a:ext cx="1280160" cy="17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fr-FR" sz="800" noProof="1"/>
          </a:p>
        </p:txBody>
      </p:sp>
      <p:sp>
        <p:nvSpPr>
          <p:cNvPr id="67" name="Shape 65"/>
          <p:cNvSpPr/>
          <p:nvPr/>
        </p:nvSpPr>
        <p:spPr>
          <a:xfrm>
            <a:off x="4754880" y="4206240"/>
            <a:ext cx="1280160" cy="173464"/>
          </a:xfrm>
          <a:prstGeom prst="rect">
            <a:avLst/>
          </a:prstGeom>
          <a:solidFill>
            <a:srgbClr val="F0F4F8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8" name="Text 66"/>
          <p:cNvSpPr/>
          <p:nvPr/>
        </p:nvSpPr>
        <p:spPr>
          <a:xfrm>
            <a:off x="4754880" y="4206240"/>
            <a:ext cx="1280160" cy="17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fr-FR" sz="800" noProof="1"/>
          </a:p>
        </p:txBody>
      </p:sp>
      <p:sp>
        <p:nvSpPr>
          <p:cNvPr id="69" name="Shape 67"/>
          <p:cNvSpPr/>
          <p:nvPr/>
        </p:nvSpPr>
        <p:spPr>
          <a:xfrm>
            <a:off x="6035040" y="4206240"/>
            <a:ext cx="1280160" cy="173464"/>
          </a:xfrm>
          <a:prstGeom prst="rect">
            <a:avLst/>
          </a:prstGeom>
          <a:solidFill>
            <a:srgbClr val="F0F4F8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70" name="Text 68"/>
          <p:cNvSpPr/>
          <p:nvPr/>
        </p:nvSpPr>
        <p:spPr>
          <a:xfrm>
            <a:off x="6035040" y="4206240"/>
            <a:ext cx="1280160" cy="17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fr-FR" sz="800" noProof="1"/>
          </a:p>
        </p:txBody>
      </p:sp>
      <p:sp>
        <p:nvSpPr>
          <p:cNvPr id="71" name="Shape 69"/>
          <p:cNvSpPr/>
          <p:nvPr/>
        </p:nvSpPr>
        <p:spPr>
          <a:xfrm>
            <a:off x="7315200" y="4206240"/>
            <a:ext cx="1280160" cy="173464"/>
          </a:xfrm>
          <a:prstGeom prst="rect">
            <a:avLst/>
          </a:prstGeom>
          <a:solidFill>
            <a:srgbClr val="F0F4F8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72" name="Text 70"/>
          <p:cNvSpPr/>
          <p:nvPr/>
        </p:nvSpPr>
        <p:spPr>
          <a:xfrm>
            <a:off x="7315200" y="4206240"/>
            <a:ext cx="1280160" cy="17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fr-FR" sz="800" noProof="1"/>
          </a:p>
        </p:txBody>
      </p:sp>
      <p:sp>
        <p:nvSpPr>
          <p:cNvPr id="73" name="Shape 71"/>
          <p:cNvSpPr/>
          <p:nvPr/>
        </p:nvSpPr>
        <p:spPr>
          <a:xfrm>
            <a:off x="914400" y="4393556"/>
            <a:ext cx="2560320" cy="10058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4" name="Text 72"/>
          <p:cNvSpPr/>
          <p:nvPr/>
        </p:nvSpPr>
        <p:spPr>
          <a:xfrm>
            <a:off x="914400" y="4400482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fr-FR" sz="600" noProof="1"/>
          </a:p>
        </p:txBody>
      </p:sp>
      <p:sp>
        <p:nvSpPr>
          <p:cNvPr id="75" name="Shape 73"/>
          <p:cNvSpPr/>
          <p:nvPr/>
        </p:nvSpPr>
        <p:spPr>
          <a:xfrm>
            <a:off x="2834640" y="4507992"/>
            <a:ext cx="1920240" cy="1005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6" name="Text 74"/>
          <p:cNvSpPr/>
          <p:nvPr/>
        </p:nvSpPr>
        <p:spPr>
          <a:xfrm>
            <a:off x="2834640" y="4507992"/>
            <a:ext cx="192024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fr-FR" sz="600" noProof="1"/>
          </a:p>
        </p:txBody>
      </p:sp>
      <p:sp>
        <p:nvSpPr>
          <p:cNvPr id="77" name="Shape 75"/>
          <p:cNvSpPr/>
          <p:nvPr/>
        </p:nvSpPr>
        <p:spPr>
          <a:xfrm>
            <a:off x="4114800" y="4636008"/>
            <a:ext cx="640080" cy="10058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8" name="Text 76"/>
          <p:cNvSpPr/>
          <p:nvPr/>
        </p:nvSpPr>
        <p:spPr>
          <a:xfrm>
            <a:off x="4114800" y="4636008"/>
            <a:ext cx="64008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fr-FR" sz="600" noProof="1"/>
          </a:p>
        </p:txBody>
      </p:sp>
      <p:sp>
        <p:nvSpPr>
          <p:cNvPr id="79" name="Shape 77"/>
          <p:cNvSpPr/>
          <p:nvPr/>
        </p:nvSpPr>
        <p:spPr>
          <a:xfrm>
            <a:off x="4754880" y="4764024"/>
            <a:ext cx="1280160" cy="10058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0" name="Text 78"/>
          <p:cNvSpPr/>
          <p:nvPr/>
        </p:nvSpPr>
        <p:spPr>
          <a:xfrm>
            <a:off x="4754880" y="4764024"/>
            <a:ext cx="12801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fr-FR" sz="600" noProof="1"/>
          </a:p>
        </p:txBody>
      </p:sp>
      <p:sp>
        <p:nvSpPr>
          <p:cNvPr id="81" name="Shape 79"/>
          <p:cNvSpPr/>
          <p:nvPr/>
        </p:nvSpPr>
        <p:spPr>
          <a:xfrm>
            <a:off x="6035040" y="4892040"/>
            <a:ext cx="1280160" cy="10058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2" name="Text 80"/>
          <p:cNvSpPr/>
          <p:nvPr/>
        </p:nvSpPr>
        <p:spPr>
          <a:xfrm>
            <a:off x="6035040" y="4892040"/>
            <a:ext cx="12801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fr-FR" sz="600" noProof="1"/>
          </a:p>
        </p:txBody>
      </p:sp>
      <p:sp>
        <p:nvSpPr>
          <p:cNvPr id="83" name="Shape 81"/>
          <p:cNvSpPr/>
          <p:nvPr/>
        </p:nvSpPr>
        <p:spPr>
          <a:xfrm>
            <a:off x="7315200" y="5020056"/>
            <a:ext cx="1280160" cy="1005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4" name="Text 82"/>
          <p:cNvSpPr/>
          <p:nvPr/>
        </p:nvSpPr>
        <p:spPr>
          <a:xfrm>
            <a:off x="7315200" y="5020056"/>
            <a:ext cx="12801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fr-FR" sz="600" noProof="1"/>
          </a:p>
        </p:txBody>
      </p:sp>
      <p:sp>
        <p:nvSpPr>
          <p:cNvPr id="85" name="Slide Number Placeholder 84">
            <a:extLst>
              <a:ext uri="{FF2B5EF4-FFF2-40B4-BE49-F238E27FC236}">
                <a16:creationId xmlns:a16="http://schemas.microsoft.com/office/drawing/2014/main" id="{73D57D2A-0D78-705A-ECC6-8DD9DFA6C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noProof="1" smtClean="0"/>
              <a:t>10</a:t>
            </a:fld>
            <a:endParaRPr lang="fr-FR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137 301 €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44916" y="594360"/>
            <a:ext cx="2141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sur 150 000 € max - marge de 12 699 €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058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05840"/>
            <a:ext cx="29260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760720" y="1005840"/>
            <a:ext cx="29260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76072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TCO sur 3 ans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175 680 €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760721" y="2011680"/>
            <a:ext cx="29260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– dépenses d’investissement : ~137k €</a:t>
            </a:r>
            <a:endParaRPr lang="en-US" sz="1000" noProof="1"/>
          </a:p>
          <a:p>
            <a:pPr marL="0" indent="0" algn="ctr">
              <a:buNone/>
            </a:pPr>
            <a:r>
              <a:rPr lang="en-US" sz="10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– dépenses de fonctionnement: ~19.3k €/an</a:t>
            </a:r>
            <a:endParaRPr lang="en-US" sz="1000" noProof="1"/>
          </a:p>
        </p:txBody>
      </p:sp>
      <p:sp>
        <p:nvSpPr>
          <p:cNvPr id="12" name="Shape 9"/>
          <p:cNvSpPr/>
          <p:nvPr/>
        </p:nvSpPr>
        <p:spPr>
          <a:xfrm>
            <a:off x="5760720" y="3017520"/>
            <a:ext cx="29260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5760720" y="3017520"/>
            <a:ext cx="29260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760720" y="3154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clés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97880" y="3429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: interface connue DSI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R650xs : évolutif, ProSupport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Reserved : -40% de coût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nœuds vs 3 : -15k €</a:t>
            </a:r>
            <a:endParaRPr lang="en-US" sz="95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CF9C863-FD7B-C8C7-7DB6-32458F494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11</a:t>
            </a:fld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résumé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560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51560" y="155448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Sécurisé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homogènes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IKEv2 AES-256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généralisé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371600"/>
            <a:ext cx="1920240" cy="2560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200400" y="155448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91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Résilient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0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nœuds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Azure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&lt; 1h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1371600"/>
            <a:ext cx="1920240" cy="2560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5349240" y="155448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6916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Prouvé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92040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tests POC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PASS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VMs validées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03720" y="1371600"/>
            <a:ext cx="1920240" cy="2560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7498080" y="155448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6916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Maîtrisé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040880" y="2788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137k / 150k 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12.7k 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3 ans : 176k €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0" y="425196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— Questions ?</a:t>
            </a:r>
            <a:endParaRPr lang="en-US" sz="2200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42058E6C-CEA0-7FDC-DB52-9D720FC60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5FB95-144E-49FD-B7E5-5AC832B9F648}" type="slidenum">
              <a:rPr lang="fr-FR" smtClean="0"/>
              <a:t>12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1060</Words>
  <Application>Microsoft Office PowerPoint</Application>
  <PresentationFormat>On-screen Show (16:9)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MSPR — NordTransit Logistics</dc:title>
  <dc:subject>PptxGenJS Presentation</dc:subject>
  <dc:creator>Ianis — Équipe NordTransit</dc:creator>
  <cp:lastModifiedBy>Ianis Puichaud</cp:lastModifiedBy>
  <cp:revision>12</cp:revision>
  <dcterms:created xsi:type="dcterms:W3CDTF">2026-02-15T21:17:22Z</dcterms:created>
  <dcterms:modified xsi:type="dcterms:W3CDTF">2026-02-21T11:38:35Z</dcterms:modified>
</cp:coreProperties>
</file>