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0F1B2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CF2-41DD-B408-19671E8AB0D4}"/>
              </c:ext>
            </c:extLst>
          </c:dPt>
          <c:dPt>
            <c:idx val="1"/>
            <c:invertIfNegative val="0"/>
            <c:bubble3D val="0"/>
            <c:spPr>
              <a:solidFill>
                <a:srgbClr val="1A27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CF2-41DD-B408-19671E8AB0D4}"/>
              </c:ext>
            </c:extLst>
          </c:dPt>
          <c:dPt>
            <c:idx val="2"/>
            <c:invertIfNegative val="0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CF2-41DD-B408-19671E8AB0D4}"/>
              </c:ext>
            </c:extLst>
          </c:dPt>
          <c:dPt>
            <c:idx val="3"/>
            <c:invertIfNegative val="0"/>
            <c:bubble3D val="0"/>
            <c:spPr>
              <a:solidFill>
                <a:srgbClr val="0E74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CF2-41DD-B408-19671E8AB0D4}"/>
              </c:ext>
            </c:extLst>
          </c:dPt>
          <c:dPt>
            <c:idx val="4"/>
            <c:invertIfNegative val="0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CF2-41DD-B408-19671E8AB0D4}"/>
              </c:ext>
            </c:extLst>
          </c:dPt>
          <c:dPt>
            <c:idx val="5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CF2-41DD-B408-19671E8AB0D4}"/>
              </c:ext>
            </c:extLst>
          </c:dPt>
          <c:dPt>
            <c:idx val="6"/>
            <c:invertIfNegative val="0"/>
            <c:bubble3D val="0"/>
            <c:spPr>
              <a:solidFill>
                <a:srgbClr val="F973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CF2-41DD-B408-19671E8AB0D4}"/>
              </c:ext>
            </c:extLst>
          </c:dPt>
          <c:dPt>
            <c:idx val="7"/>
            <c:invertIfNegative val="0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CF2-41DD-B408-19671E8AB0D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Virtualisation</c:v>
                </c:pt>
                <c:pt idx="1">
                  <c:v>Stockage SAN</c:v>
                </c:pt>
                <c:pt idx="2">
                  <c:v>Sécurité</c:v>
                </c:pt>
                <c:pt idx="3">
                  <c:v>Internet</c:v>
                </c:pt>
                <c:pt idx="4">
                  <c:v>Réseau</c:v>
                </c:pt>
                <c:pt idx="5">
                  <c:v>Azure PRA</c:v>
                </c:pt>
                <c:pt idx="6">
                  <c:v>Main d'œuvre</c:v>
                </c:pt>
                <c:pt idx="7">
                  <c:v>Supervision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30000</c:v>
                </c:pt>
                <c:pt idx="1">
                  <c:v>20000</c:v>
                </c:pt>
                <c:pt idx="2">
                  <c:v>17520</c:v>
                </c:pt>
                <c:pt idx="3">
                  <c:v>12840</c:v>
                </c:pt>
                <c:pt idx="4">
                  <c:v>12000</c:v>
                </c:pt>
                <c:pt idx="5">
                  <c:v>11232</c:v>
                </c:pt>
                <c:pt idx="6">
                  <c:v>8300</c:v>
                </c:pt>
                <c:pt idx="7">
                  <c:v>7500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CF2-41DD-B408-19671E8AB0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04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6576" cy="5088636"/>
          </a:xfrm>
          <a:prstGeom prst="rect">
            <a:avLst/>
          </a:prstGeom>
          <a:solidFill>
            <a:srgbClr val="0891B2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MSPR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NordTransit Logistics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Modernisation de l'infrastructure SI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337560"/>
            <a:ext cx="228600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31520" y="3557517"/>
            <a:ext cx="7680960" cy="105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B3 ASRBD Groupe 2 :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PUICHAUD Ianis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ABOUYAALA </a:t>
            </a:r>
            <a:r>
              <a:rPr lang="fr-FR" sz="1200" b="1" dirty="0" err="1">
                <a:solidFill>
                  <a:schemeClr val="bg1">
                    <a:lumMod val="75000"/>
                  </a:schemeClr>
                </a:solidFill>
              </a:rPr>
              <a:t>Zaid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LANTSIGBLE </a:t>
            </a:r>
            <a:r>
              <a:rPr lang="fr-FR" sz="1200" b="1" dirty="0" err="1">
                <a:solidFill>
                  <a:schemeClr val="bg1">
                    <a:lumMod val="75000"/>
                  </a:schemeClr>
                </a:solidFill>
              </a:rPr>
              <a:t>Ojvind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LENOGUE Ewan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WANDA NKONG Blaise</a:t>
            </a:r>
            <a:endParaRPr lang="en-US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468277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Février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987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188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en bref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1645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douleur et risques identifiés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202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19202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19019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1031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proposée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3774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" y="2377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23591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2560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FortiGate, VPN IKEv2, VLAN, QoS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8346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0080" y="2834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43000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3017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HA, Azure Site Recovery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2918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0080" y="3291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43000" y="3273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&amp; résultats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3474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Proxmox, 4 tests validés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37490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40080" y="3749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3730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Stratégie de migration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3931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phases, planning 6 semaines, rollback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" y="42062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40080" y="42062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43000" y="41879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43000" y="43891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€ sur 150k max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0" y="914400"/>
            <a:ext cx="2286000" cy="3657600"/>
          </a:xfrm>
          <a:prstGeom prst="rect">
            <a:avLst/>
          </a:prstGeom>
          <a:solidFill>
            <a:srgbClr val="1A2744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1031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— PME logistique, Hauts-de-France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544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Lille, Lens, Valenciennes, Arras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974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26974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5544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974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26974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7889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300 en haute saison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7548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47548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55448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463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serveur unique (SPOF)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8122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9"/>
          <p:cNvSpPr/>
          <p:nvPr/>
        </p:nvSpPr>
        <p:spPr>
          <a:xfrm>
            <a:off x="68122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1554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122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6812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9037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resp. + 3 techniciens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critique : WMS (gestion d'entrepôt) — indisponibilité = arrêt des 4 sites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5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Horaires critiques WMS : 5h30 — 18h30  |  Active Directory : 24/7  |  VoIP : 7h00 — 18h30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463040" y="11247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SPOF critique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unique Dell R630 — panne = arrêt total de tous les services (AD, WMS, VoIP, supervision)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19659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148840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463040" y="20391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 de PRA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463040" y="23317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Sinistre au siège = perte définitive des données, aucun plan de reprise d'activité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" y="28803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640080" y="2880360"/>
            <a:ext cx="54864" cy="7772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063240"/>
            <a:ext cx="411480" cy="411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463040" y="2953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obsolète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463040" y="3246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80D en fin de vie, DrayTek basiques, VPN IKEv1, MFA partiel (IT uniquement)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1"/>
          <p:cNvSpPr/>
          <p:nvPr/>
        </p:nvSpPr>
        <p:spPr>
          <a:xfrm>
            <a:off x="640080" y="37947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411480" cy="41148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3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463040" y="38679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VoIP dégradée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14630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QoS configurée — la voix se coupe quand le réseau est chargé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 la solution proposée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31089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LILLE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" y="160020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733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100F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360" y="214884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21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2x R650xs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69748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7063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2697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PowerVault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94360" y="324612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1927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156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(DC01 + DC02)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212080" y="1143000"/>
            <a:ext cx="3566160" cy="137160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4"/>
          <p:cNvSpPr/>
          <p:nvPr/>
        </p:nvSpPr>
        <p:spPr>
          <a:xfrm>
            <a:off x="521208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x4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40680" y="1600200"/>
            <a:ext cx="310896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67335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9788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60F / 40F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18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C9200-24P  |  Postes + RF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114800" y="1801368"/>
            <a:ext cx="10972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0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</a:t>
            </a:r>
            <a:endParaRPr lang="en-US" sz="9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5212080" y="2743200"/>
            <a:ext cx="3566160" cy="15087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3"/>
          <p:cNvSpPr/>
          <p:nvPr/>
        </p:nvSpPr>
        <p:spPr>
          <a:xfrm>
            <a:off x="521208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— PRA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5440680" y="315468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191256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85216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(RPO = 0)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440680" y="352044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557016"/>
            <a:ext cx="219456" cy="21945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8521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Recovery (20 VMs)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5440680" y="388620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922776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8521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+ Witness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4663440" y="3291840"/>
            <a:ext cx="548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1"/>
          <p:cNvSpPr/>
          <p:nvPr/>
        </p:nvSpPr>
        <p:spPr>
          <a:xfrm>
            <a:off x="4114800" y="3063240"/>
            <a:ext cx="594360" cy="457200"/>
          </a:xfrm>
          <a:prstGeom prst="rect">
            <a:avLst/>
          </a:prstGeom>
          <a:solidFill>
            <a:srgbClr val="F59E0B">
              <a:alpha val="3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2"/>
          <p:cNvSpPr/>
          <p:nvPr/>
        </p:nvSpPr>
        <p:spPr>
          <a:xfrm>
            <a:off x="4114800" y="30632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solidFill>
            <a:srgbClr val="0891B2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4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: 137k € / 150k max  —  FortiGate homogènes  —  Cluster HA  —  PRA Azure  —  QoS VoIP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Pare-feu FortiGate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FortiGate 100F (Hub VPN, UTM)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: 3x FortiGate 60F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 : FortiGate 40F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+ politique uniforme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&amp; segmentation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IKEv2 + AES-256-GCM (5 tunnels)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 (Dead Peer Detection)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VLANs : MGMT, Serveurs, Data, VoIP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inter-VLAN strict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par VLAN — Priorisation du trafic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Bande passante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VOIP (40)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 (46)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minimum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SERVEURS (20)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Moyenne-Haute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AF31 (26)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(0)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MGMT 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 (16)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on-premise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Dell R650xs (256 Go RAM)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iSCSI PowerVault ME5012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 via Azure Cloud Witness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Basculement automatique &lt; 5 min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~15k € vs 3 nœuds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 Azure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dans Azure (RPO = 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Site Recovery (20 VMs)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pour les backups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 site-à-site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3 ans (-40% de coût)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RTO / RPO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2336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(temps réel)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répliqué Azure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Téléphonie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VM sur nœud sain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— Proof of Concept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sur Proxmox VE pour valider chaque brique de l'architecture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5720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572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Siège — 172.16.132.0/24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FW-SIEGE (pfSense)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DC01 (Win Server)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(Win Server)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(Ubuntu + MySQL)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IPBX (FreePBX)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→ pfSense  |  Windows Server → identique  |  WMS → Ubuntu + MySQL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947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: pas de failover cluster physique en lab (couvert par specs Dell)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37760" y="2286000"/>
            <a:ext cx="5943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956048" y="2377440"/>
            <a:ext cx="548640" cy="3200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956048" y="2377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69280" y="1325880"/>
            <a:ext cx="31089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669280" y="1325880"/>
            <a:ext cx="31089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66928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Azure — 10.100.0.0/24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FW-AZURE (pfSense)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DC-AZURE (Win Server)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3611880"/>
            <a:ext cx="3108960" cy="4572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66928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9.1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Go RAM | 720 Go SSD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Résultats POC — 4 tests, 4 PASS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QoS VoIP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VoIP stable sous 500 Mbps de charge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9144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0.1ms  |  Jitter 0.04ms  |  0% perte  |  MOS 4.4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AD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3949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prend le relais si DC01 tombe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920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50292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&lt; 30s  |  DNS + Auth OK  |  Réplication 0 erreurs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00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9"/>
          <p:cNvSpPr/>
          <p:nvPr/>
        </p:nvSpPr>
        <p:spPr>
          <a:xfrm>
            <a:off x="6400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0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06324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WMS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12801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survit à un arrêt brutal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772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5"/>
          <p:cNvSpPr/>
          <p:nvPr/>
        </p:nvSpPr>
        <p:spPr>
          <a:xfrm>
            <a:off x="9144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 ~20s  |  MySQL actif  |  5/5 records intacts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7548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27"/>
          <p:cNvSpPr/>
          <p:nvPr/>
        </p:nvSpPr>
        <p:spPr>
          <a:xfrm>
            <a:off x="47548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28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29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063240"/>
            <a:ext cx="365760" cy="36576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949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Tunnel Azure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53949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siège ↔ Azure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48920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3"/>
          <p:cNvSpPr/>
          <p:nvPr/>
        </p:nvSpPr>
        <p:spPr>
          <a:xfrm>
            <a:off x="50292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&lt; 1ms  |  DNS cross-site  |  Réplication AD OK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Stratégie de migration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phases sur 6 semaines — migrations nocturnes — rollback à chaque étape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5720" cy="914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530352" y="1207008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30352" y="12070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11521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Pare-feu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371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Remplacement DrayTek/80D → FortiGate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0" y="1170432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383280" y="11704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nuits (S1-S2)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143000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Rebrancher ancien équipement (~15 min)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45720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919472" y="1207008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919472" y="12070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32120" y="11521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32120" y="1371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2x R650xs + SAN ME5012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0" y="1170432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7772400" y="11704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 + 2j (S2-S3)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532120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R630 reste actif en parallèle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2121408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365760" y="2121408"/>
            <a:ext cx="45720" cy="9144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30352" y="2231136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30352" y="2231136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43000" y="2176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43000" y="2395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~20 VMs du R630 → cluster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83280" y="2194560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383280" y="21945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 WE (S3)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43000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Restaurer snapshots sur R630 (~30 min)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54880" y="2121408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4754880" y="2121408"/>
            <a:ext cx="45720" cy="914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4919472" y="2231136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4919472" y="2231136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32120" y="2176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532120" y="2395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site-à-site + DC répliqué + ASR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772400" y="2194560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7772400" y="21945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jours (S4)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532120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Couper tunnel, supprimer ressources (~5 min)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145536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365760" y="3145536"/>
            <a:ext cx="45720" cy="914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530352" y="3255264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30352" y="3255264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3000" y="3200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QoS/VLAN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143000" y="3419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4 VLAN + DSCP + QoS VoIP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3218688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3383280" y="32186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nuits (S5)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43000" y="36758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Désactiver VLAN, retour flat (~20 min)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3145536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4754880" y="3145536"/>
            <a:ext cx="45720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4919472" y="3255264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4919472" y="3255264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532120" y="3200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532120" y="3419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bout en bout + test PRA complet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3218688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7" name="Text 55"/>
          <p:cNvSpPr/>
          <p:nvPr/>
        </p:nvSpPr>
        <p:spPr>
          <a:xfrm>
            <a:off x="7772400" y="32186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 (S6)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532120" y="36758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Non applicable (tests uniquement)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: 6 semaines — interventions nocturnes et week-ends uniquement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14400" y="4206240"/>
            <a:ext cx="1280160" cy="20116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914400" y="4206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194560" y="4206240"/>
            <a:ext cx="1280160" cy="20116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2194560" y="4206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474720" y="4206240"/>
            <a:ext cx="1280160" cy="20116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3474720" y="4206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754880" y="4206240"/>
            <a:ext cx="1280160" cy="20116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4754880" y="4206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035040" y="4206240"/>
            <a:ext cx="1280160" cy="20116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6035040" y="4206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15200" y="4206240"/>
            <a:ext cx="1280160" cy="20116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7315200" y="4206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914400" y="4443984"/>
            <a:ext cx="2560320" cy="10058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4" name="Text 72"/>
          <p:cNvSpPr/>
          <p:nvPr/>
        </p:nvSpPr>
        <p:spPr>
          <a:xfrm>
            <a:off x="914400" y="4443984"/>
            <a:ext cx="256032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600" dirty="0"/>
          </a:p>
        </p:txBody>
      </p:sp>
      <p:sp>
        <p:nvSpPr>
          <p:cNvPr id="75" name="Shape 73"/>
          <p:cNvSpPr/>
          <p:nvPr/>
        </p:nvSpPr>
        <p:spPr>
          <a:xfrm>
            <a:off x="2834640" y="4572000"/>
            <a:ext cx="1920240" cy="10058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6" name="Text 74"/>
          <p:cNvSpPr/>
          <p:nvPr/>
        </p:nvSpPr>
        <p:spPr>
          <a:xfrm>
            <a:off x="2834640" y="4572000"/>
            <a:ext cx="192024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4114800" y="4700016"/>
            <a:ext cx="640080" cy="10058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8" name="Text 76"/>
          <p:cNvSpPr/>
          <p:nvPr/>
        </p:nvSpPr>
        <p:spPr>
          <a:xfrm>
            <a:off x="4114800" y="4700016"/>
            <a:ext cx="64008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4754880" y="4828032"/>
            <a:ext cx="1280160" cy="10058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" name="Text 78"/>
          <p:cNvSpPr/>
          <p:nvPr/>
        </p:nvSpPr>
        <p:spPr>
          <a:xfrm>
            <a:off x="4754880" y="4828032"/>
            <a:ext cx="1280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600" dirty="0"/>
          </a:p>
        </p:txBody>
      </p:sp>
      <p:sp>
        <p:nvSpPr>
          <p:cNvPr id="81" name="Shape 79"/>
          <p:cNvSpPr/>
          <p:nvPr/>
        </p:nvSpPr>
        <p:spPr>
          <a:xfrm>
            <a:off x="6035040" y="4956048"/>
            <a:ext cx="1280160" cy="10058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2" name="Text 80"/>
          <p:cNvSpPr/>
          <p:nvPr/>
        </p:nvSpPr>
        <p:spPr>
          <a:xfrm>
            <a:off x="6035040" y="4956048"/>
            <a:ext cx="1280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7315200" y="5084064"/>
            <a:ext cx="1280160" cy="10058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4" name="Text 82"/>
          <p:cNvSpPr/>
          <p:nvPr/>
        </p:nvSpPr>
        <p:spPr>
          <a:xfrm>
            <a:off x="7315200" y="5084064"/>
            <a:ext cx="1280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137 301 €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0" y="594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150 000 € max — marge de 12 699 €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00584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05840"/>
            <a:ext cx="29260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60720" y="1005840"/>
            <a:ext cx="29260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6072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TCO sur 3 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175 680 €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943600" y="2011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: ~137k 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: ~19.3k €/an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60720" y="3017520"/>
            <a:ext cx="29260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5760720" y="3017520"/>
            <a:ext cx="29260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0" y="31546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clés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97880" y="3429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: interface connue DSI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R650xs : évolutif, ProSupport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Reserved : -40% de coût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nœuds vs 3 : -15k €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résumé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05156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Sécurisé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homogènes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 AES-256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généralisé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0604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20040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6916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0604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Résilient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320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 nœuds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Azure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1h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75488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34924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6916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5488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Prouvé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89204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tests POC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 PASS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validées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90372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49808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69164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Maîtrisé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04088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/ 150k 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12.7k 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3 ans : 176k €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00400" y="4251960"/>
            <a:ext cx="27432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9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— Questions 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1053</Words>
  <Application>Microsoft Office PowerPoint</Application>
  <PresentationFormat>On-screen Show (16:9)</PresentationFormat>
  <Paragraphs>266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MSPR — NordTransit Logistics</dc:title>
  <dc:subject>PptxGenJS Presentation</dc:subject>
  <dc:creator>Ianis — Équipe NordTransit</dc:creator>
  <cp:lastModifiedBy>Ianis Puichaud</cp:lastModifiedBy>
  <cp:revision>2</cp:revision>
  <dcterms:created xsi:type="dcterms:W3CDTF">2026-02-15T21:17:22Z</dcterms:created>
  <dcterms:modified xsi:type="dcterms:W3CDTF">2026-02-15T21:38:07Z</dcterms:modified>
</cp:coreProperties>
</file>